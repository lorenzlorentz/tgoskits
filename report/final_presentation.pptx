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78" r:id="rId3"/>
    <p:sldId id="287" r:id="rId4"/>
    <p:sldId id="257" r:id="rId5"/>
    <p:sldId id="269" r:id="rId6"/>
    <p:sldId id="273" r:id="rId7"/>
    <p:sldId id="274" r:id="rId8"/>
    <p:sldId id="271" r:id="rId9"/>
    <p:sldId id="268" r:id="rId10"/>
    <p:sldId id="258" r:id="rId11"/>
    <p:sldId id="264" r:id="rId12"/>
    <p:sldId id="272" r:id="rId13"/>
    <p:sldId id="259" r:id="rId14"/>
    <p:sldId id="260" r:id="rId15"/>
    <p:sldId id="265" r:id="rId16"/>
    <p:sldId id="261" r:id="rId17"/>
    <p:sldId id="280" r:id="rId18"/>
    <p:sldId id="262" r:id="rId19"/>
    <p:sldId id="263" r:id="rId20"/>
    <p:sldId id="295" r:id="rId21"/>
    <p:sldId id="296" r:id="rId22"/>
    <p:sldId id="266" r:id="rId23"/>
    <p:sldId id="290" r:id="rId24"/>
    <p:sldId id="284" r:id="rId25"/>
    <p:sldId id="283" r:id="rId26"/>
    <p:sldId id="277" r:id="rId27"/>
    <p:sldId id="294" r:id="rId28"/>
    <p:sldId id="279" r:id="rId29"/>
    <p:sldId id="288" r:id="rId3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/>
    <p:restoredTop sz="90847"/>
  </p:normalViewPr>
  <p:slideViewPr>
    <p:cSldViewPr snapToGrid="0">
      <p:cViewPr>
        <p:scale>
          <a:sx n="115" d="100"/>
          <a:sy n="115" d="100"/>
        </p:scale>
        <p:origin x="30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14000-2E3A-8B4B-B4CE-BA4FDD5DFC9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15BEE-7055-0644-8EFF-7660685306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562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CN" dirty="0"/>
              <a:t>ump风格指的是最简单的内存分配</a:t>
            </a:r>
            <a:r>
              <a:rPr lang="en-US" altLang="zh-CN" dirty="0"/>
              <a:t>,</a:t>
            </a:r>
            <a:r>
              <a:rPr lang="zh-CN" altLang="en-US" dirty="0"/>
              <a:t> 没有</a:t>
            </a:r>
            <a:r>
              <a:rPr lang="en-US" altLang="zh-CN" dirty="0"/>
              <a:t>malloc,</a:t>
            </a:r>
            <a:r>
              <a:rPr lang="zh-CN" altLang="en-US" dirty="0"/>
              <a:t> 只是一个指针指示分配</a:t>
            </a:r>
            <a:r>
              <a:rPr lang="en-US" altLang="zh-CN" dirty="0"/>
              <a:t>;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75190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CN" dirty="0"/>
              <a:t>Designer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zh-CN" altLang="en-CN" dirty="0"/>
              <a:t>接取任务</a:t>
            </a:r>
            <a:r>
              <a:rPr lang="en-US" altLang="zh-CN" dirty="0"/>
              <a:t>,</a:t>
            </a:r>
            <a:r>
              <a:rPr lang="zh-CN" altLang="en-US" dirty="0"/>
              <a:t> 阅读代码库</a:t>
            </a:r>
            <a:r>
              <a:rPr lang="en-US" altLang="zh-CN" dirty="0"/>
              <a:t>,</a:t>
            </a:r>
            <a:r>
              <a:rPr lang="zh-CN" altLang="en-US" dirty="0"/>
              <a:t> 设计计划</a:t>
            </a:r>
            <a:r>
              <a:rPr lang="en-US" altLang="zh-CN" dirty="0"/>
              <a:t>;</a:t>
            </a:r>
          </a:p>
          <a:p>
            <a:pPr marL="342900" indent="-342900">
              <a:buAutoNum type="arabicPeriod"/>
            </a:pPr>
            <a:r>
              <a:rPr lang="en-US" dirty="0"/>
              <a:t>Auditor</a:t>
            </a:r>
            <a:r>
              <a:rPr lang="en-US" altLang="zh-CN" dirty="0"/>
              <a:t>:</a:t>
            </a:r>
            <a:r>
              <a:rPr lang="zh-CN" altLang="en-US" dirty="0"/>
              <a:t> 审计计划</a:t>
            </a:r>
            <a:r>
              <a:rPr lang="en-US" altLang="zh-CN" dirty="0"/>
              <a:t>,</a:t>
            </a:r>
            <a:r>
              <a:rPr lang="zh-CN" altLang="en-US" dirty="0"/>
              <a:t> 审计</a:t>
            </a:r>
            <a:r>
              <a:rPr lang="en-US" altLang="zh-CN" dirty="0"/>
              <a:t>PR</a:t>
            </a:r>
            <a:r>
              <a:rPr lang="zh-CN" altLang="en-US" dirty="0"/>
              <a:t>是否达成意图</a:t>
            </a:r>
            <a:r>
              <a:rPr lang="en-US" altLang="zh-CN" dirty="0"/>
              <a:t>,</a:t>
            </a:r>
            <a:r>
              <a:rPr lang="zh-CN" altLang="en-US" dirty="0"/>
              <a:t> 审计是否按照要求完成</a:t>
            </a:r>
            <a:r>
              <a:rPr lang="en-US" altLang="zh-CN" dirty="0"/>
              <a:t>;</a:t>
            </a:r>
          </a:p>
          <a:p>
            <a:pPr marL="342900" indent="-342900">
              <a:buAutoNum type="arabicPeriod"/>
            </a:pPr>
            <a:r>
              <a:rPr lang="en-US" dirty="0"/>
              <a:t>Developer</a:t>
            </a:r>
            <a:r>
              <a:rPr lang="en-US" altLang="zh-CN" dirty="0"/>
              <a:t>:</a:t>
            </a:r>
            <a:r>
              <a:rPr lang="zh-CN" altLang="en-US" dirty="0"/>
              <a:t> 按照计划执行</a:t>
            </a:r>
            <a:r>
              <a:rPr lang="en-US" altLang="zh-CN" dirty="0"/>
              <a:t>;</a:t>
            </a:r>
          </a:p>
          <a:p>
            <a:pPr marL="342900" indent="-342900">
              <a:buAutoNum type="arabicPeriod"/>
            </a:pPr>
            <a:r>
              <a:rPr lang="en-US" dirty="0"/>
              <a:t>Reviewer</a:t>
            </a:r>
            <a:r>
              <a:rPr lang="en-US" altLang="zh-CN" dirty="0"/>
              <a:t>:</a:t>
            </a:r>
            <a:r>
              <a:rPr lang="zh-CN" altLang="en-US" dirty="0"/>
              <a:t> 在本机上测试</a:t>
            </a:r>
            <a:r>
              <a:rPr lang="en-US" altLang="zh-CN" dirty="0"/>
              <a:t>,</a:t>
            </a:r>
            <a:r>
              <a:rPr lang="zh-CN" altLang="en-US" dirty="0"/>
              <a:t> 挖掘</a:t>
            </a:r>
            <a:r>
              <a:rPr lang="en-US" altLang="zh-CN" dirty="0"/>
              <a:t>bug, </a:t>
            </a:r>
            <a:r>
              <a:rPr lang="zh-CN" altLang="en-US" dirty="0"/>
              <a:t>检测不对齐行为</a:t>
            </a:r>
            <a:r>
              <a:rPr lang="en-US" altLang="zh-CN" dirty="0"/>
              <a:t>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还有一个skill专门检测错误路径处理</a:t>
            </a:r>
            <a:r>
              <a:rPr lang="en-US" altLang="zh-CN" dirty="0"/>
              <a:t>,</a:t>
            </a:r>
            <a:r>
              <a:rPr lang="zh-CN" altLang="en-US" dirty="0"/>
              <a:t> 会不会丢失一致性、无法回滚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023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workflow-design: </a:t>
            </a:r>
            <a:r>
              <a:rPr lang="zh-CN" altLang="en-US" dirty="0"/>
              <a:t>任务拆解</a:t>
            </a:r>
            <a:r>
              <a:rPr lang="en-US" altLang="zh-CN" dirty="0"/>
              <a:t>,</a:t>
            </a:r>
            <a:r>
              <a:rPr lang="zh-CN" altLang="en-US" dirty="0"/>
              <a:t> 工作流设计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upstream-overlap-check: </a:t>
            </a:r>
            <a:r>
              <a:rPr lang="zh-CN" altLang="en-US" dirty="0"/>
              <a:t>上游重复检查</a:t>
            </a:r>
            <a:r>
              <a:rPr lang="en-US" altLang="zh-CN" dirty="0"/>
              <a:t>,</a:t>
            </a:r>
            <a:r>
              <a:rPr lang="zh-CN" altLang="en-US" dirty="0"/>
              <a:t> 是否和</a:t>
            </a:r>
            <a:r>
              <a:rPr lang="en-US" altLang="zh-CN" dirty="0"/>
              <a:t>dev, </a:t>
            </a:r>
            <a:r>
              <a:rPr lang="zh-CN" altLang="en-US" dirty="0"/>
              <a:t>或者其他</a:t>
            </a:r>
            <a:r>
              <a:rPr lang="en-US" altLang="zh-CN" dirty="0"/>
              <a:t>pr</a:t>
            </a:r>
            <a:r>
              <a:rPr lang="zh-CN" altLang="en-US" dirty="0"/>
              <a:t>重叠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/>
              <a:t>kernel-quality-review:</a:t>
            </a:r>
            <a:r>
              <a:rPr lang="zh-CN" altLang="en-US" dirty="0"/>
              <a:t> 正确性</a:t>
            </a:r>
            <a:r>
              <a:rPr lang="en-US" altLang="zh-CN" dirty="0"/>
              <a:t>,</a:t>
            </a:r>
            <a:r>
              <a:rPr lang="zh-CN" altLang="en-US" dirty="0"/>
              <a:t> 框架复用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rust</a:t>
            </a:r>
            <a:r>
              <a:rPr lang="zh-CN" altLang="en-US" dirty="0"/>
              <a:t>质量</a:t>
            </a:r>
            <a:r>
              <a:rPr lang="en-US" altLang="zh-CN" dirty="0"/>
              <a:t>,</a:t>
            </a:r>
            <a:r>
              <a:rPr lang="zh-CN" altLang="en-US" dirty="0"/>
              <a:t> 安全分析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altLang="zh-CN" dirty="0" err="1"/>
              <a:t>linux</a:t>
            </a:r>
            <a:r>
              <a:rPr lang="en-US" altLang="zh-CN" dirty="0"/>
              <a:t>-compare: </a:t>
            </a:r>
            <a:r>
              <a:rPr lang="zh-CN" altLang="en-US" dirty="0"/>
              <a:t>真实</a:t>
            </a:r>
            <a:r>
              <a:rPr lang="en-US" altLang="zh-CN" dirty="0" err="1"/>
              <a:t>linux</a:t>
            </a:r>
            <a:r>
              <a:rPr lang="zh-CN" altLang="en-US" dirty="0"/>
              <a:t>容器中运行相同测试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en-US" altLang="zh-CN" dirty="0"/>
              <a:t>misalignment-check:</a:t>
            </a:r>
            <a:r>
              <a:rPr lang="zh-CN" altLang="en-US" dirty="0"/>
              <a:t> 语义偏差检查</a:t>
            </a:r>
            <a:endParaRPr lang="en-US" altLang="zh-CN" dirty="0"/>
          </a:p>
          <a:p>
            <a:r>
              <a:rPr lang="en-US" altLang="zh-CN" dirty="0"/>
              <a:t>6.</a:t>
            </a:r>
            <a:r>
              <a:rPr lang="zh-CN" altLang="en-US" dirty="0"/>
              <a:t> </a:t>
            </a:r>
            <a:r>
              <a:rPr lang="en-US" altLang="zh-CN" dirty="0"/>
              <a:t>bug-triage:</a:t>
            </a:r>
            <a:r>
              <a:rPr lang="zh-CN" altLang="en-US" dirty="0"/>
              <a:t> 对</a:t>
            </a:r>
            <a:r>
              <a:rPr lang="en-US" altLang="zh-CN" dirty="0"/>
              <a:t>bug</a:t>
            </a:r>
            <a:r>
              <a:rPr lang="zh-CN" altLang="en-US" dirty="0"/>
              <a:t>做分类</a:t>
            </a:r>
            <a:r>
              <a:rPr lang="en-US" altLang="zh-CN" dirty="0"/>
              <a:t>,</a:t>
            </a:r>
            <a:r>
              <a:rPr lang="zh-CN" altLang="en-US" dirty="0"/>
              <a:t> 并发、内存、语义、正确性、安全</a:t>
            </a:r>
            <a:br>
              <a:rPr lang="en-US" altLang="zh-CN" dirty="0"/>
            </a:br>
            <a:r>
              <a:rPr lang="en-US" altLang="zh-CN" dirty="0"/>
              <a:t>7.</a:t>
            </a:r>
            <a:r>
              <a:rPr lang="zh-CN" altLang="en-US" dirty="0"/>
              <a:t> </a:t>
            </a:r>
            <a:r>
              <a:rPr lang="en-US" altLang="zh-CN" dirty="0"/>
              <a:t>concurrent-bug-checker:</a:t>
            </a:r>
            <a:r>
              <a:rPr lang="zh-CN" altLang="en-US" dirty="0"/>
              <a:t> 专门找竞态、死锁、丢失唤醒、原子性、失败路径检查等各种</a:t>
            </a:r>
            <a:r>
              <a:rPr lang="en-US" altLang="zh-CN" dirty="0"/>
              <a:t>bug</a:t>
            </a:r>
          </a:p>
          <a:p>
            <a:r>
              <a:rPr lang="en-US" altLang="zh-CN" dirty="0"/>
              <a:t>8.</a:t>
            </a:r>
            <a:r>
              <a:rPr lang="zh-CN" altLang="en-US" dirty="0"/>
              <a:t> </a:t>
            </a:r>
            <a:r>
              <a:rPr lang="en-US" altLang="zh-CN" dirty="0"/>
              <a:t>cross-</a:t>
            </a:r>
            <a:r>
              <a:rPr lang="en-US" altLang="zh-CN" dirty="0" err="1"/>
              <a:t>syscall</a:t>
            </a:r>
            <a:r>
              <a:rPr lang="en-US" altLang="zh-CN" dirty="0"/>
              <a:t>-bug-checker:</a:t>
            </a:r>
            <a:r>
              <a:rPr lang="zh-CN" altLang="en-US" dirty="0"/>
              <a:t> 不同</a:t>
            </a:r>
            <a:r>
              <a:rPr lang="en-US" altLang="zh-CN" dirty="0" err="1"/>
              <a:t>syscall</a:t>
            </a:r>
            <a:r>
              <a:rPr lang="zh-CN" altLang="en-US" dirty="0"/>
              <a:t>共享内核状态时产生的</a:t>
            </a:r>
            <a:r>
              <a:rPr lang="en-US" altLang="zh-CN" dirty="0"/>
              <a:t>bug</a:t>
            </a:r>
          </a:p>
          <a:p>
            <a:r>
              <a:rPr lang="en-US" altLang="zh-CN" dirty="0"/>
              <a:t>9.</a:t>
            </a:r>
            <a:r>
              <a:rPr lang="zh-CN" altLang="en-US" dirty="0"/>
              <a:t> </a:t>
            </a:r>
            <a:r>
              <a:rPr lang="en-US" altLang="zh-CN" dirty="0"/>
              <a:t>multilayer-test: </a:t>
            </a:r>
            <a:r>
              <a:rPr lang="zh-CN" altLang="en-US" dirty="0"/>
              <a:t>多个层次测试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fmt</a:t>
            </a:r>
            <a:r>
              <a:rPr lang="en-US" altLang="zh-CN" dirty="0"/>
              <a:t>, </a:t>
            </a:r>
            <a:r>
              <a:rPr lang="en-US" altLang="zh-CN" dirty="0" err="1"/>
              <a:t>clippy</a:t>
            </a:r>
            <a:r>
              <a:rPr lang="en-US" altLang="zh-CN" dirty="0"/>
              <a:t>,</a:t>
            </a:r>
            <a:r>
              <a:rPr lang="zh-CN" altLang="en-US" dirty="0"/>
              <a:t> 编译链接</a:t>
            </a:r>
            <a:r>
              <a:rPr lang="en-US" altLang="zh-CN" dirty="0"/>
              <a:t>,</a:t>
            </a:r>
            <a:r>
              <a:rPr lang="zh-CN" altLang="en-US" dirty="0"/>
              <a:t> 单元测试</a:t>
            </a:r>
            <a:r>
              <a:rPr lang="en-US" altLang="zh-CN" dirty="0"/>
              <a:t>,</a:t>
            </a:r>
            <a:r>
              <a:rPr lang="zh-CN" altLang="en-US" dirty="0"/>
              <a:t> 集成测试、</a:t>
            </a:r>
            <a:r>
              <a:rPr lang="en-US" altLang="zh-CN" dirty="0"/>
              <a:t>e2e</a:t>
            </a:r>
            <a:r>
              <a:rPr lang="zh-CN" altLang="en-US" dirty="0"/>
              <a:t>测试</a:t>
            </a:r>
            <a:r>
              <a:rPr lang="en-US" altLang="zh-CN" dirty="0"/>
              <a:t>,</a:t>
            </a:r>
            <a:r>
              <a:rPr lang="zh-CN" altLang="en-US" dirty="0"/>
              <a:t> 压力测试如并发等</a:t>
            </a:r>
            <a:endParaRPr lang="en-US" altLang="zh-CN" dirty="0"/>
          </a:p>
          <a:p>
            <a:r>
              <a:rPr lang="en-US" altLang="zh-CN" dirty="0"/>
              <a:t>10.</a:t>
            </a:r>
            <a:r>
              <a:rPr lang="zh-CN" altLang="en-US" dirty="0"/>
              <a:t> </a:t>
            </a:r>
            <a:r>
              <a:rPr lang="en-US" altLang="zh-CN" dirty="0"/>
              <a:t>ci-monitor:</a:t>
            </a:r>
            <a:r>
              <a:rPr lang="zh-CN" altLang="en-US" dirty="0"/>
              <a:t> 用</a:t>
            </a:r>
            <a:r>
              <a:rPr lang="en-US" altLang="zh-CN" dirty="0" err="1"/>
              <a:t>github</a:t>
            </a:r>
            <a:r>
              <a:rPr lang="en-US" altLang="zh-CN" dirty="0"/>
              <a:t> cli (</a:t>
            </a:r>
            <a:r>
              <a:rPr lang="en-US" altLang="zh-CN" dirty="0" err="1"/>
              <a:t>gh</a:t>
            </a:r>
            <a:r>
              <a:rPr lang="en-US" altLang="zh-CN" dirty="0"/>
              <a:t>)</a:t>
            </a:r>
            <a:r>
              <a:rPr lang="zh-CN" altLang="en-US" dirty="0"/>
              <a:t> 检测</a:t>
            </a:r>
            <a:r>
              <a:rPr lang="en-US" altLang="zh-CN" dirty="0"/>
              <a:t>ci</a:t>
            </a:r>
            <a:r>
              <a:rPr lang="zh-CN" altLang="en-US" dirty="0"/>
              <a:t>状态</a:t>
            </a:r>
            <a:endParaRPr lang="en-US" altLang="zh-CN" dirty="0"/>
          </a:p>
          <a:p>
            <a:r>
              <a:rPr lang="en-US" altLang="zh-CN" dirty="0"/>
              <a:t>11.</a:t>
            </a:r>
            <a:r>
              <a:rPr lang="zh-CN" altLang="en-US" dirty="0"/>
              <a:t> </a:t>
            </a:r>
            <a:r>
              <a:rPr lang="en-US" altLang="zh-CN" dirty="0"/>
              <a:t>audit:</a:t>
            </a:r>
            <a:r>
              <a:rPr lang="zh-CN" altLang="en-US" dirty="0"/>
              <a:t> 对照原始需求、</a:t>
            </a:r>
            <a:r>
              <a:rPr lang="en-US" altLang="zh-CN" dirty="0" err="1"/>
              <a:t>workflow.md</a:t>
            </a:r>
            <a:r>
              <a:rPr lang="zh-CN" altLang="en-US" dirty="0"/>
              <a:t>和验收标准审计最终成果</a:t>
            </a:r>
            <a:r>
              <a:rPr lang="en-US" altLang="zh-CN" dirty="0"/>
              <a:t>.</a:t>
            </a:r>
            <a:r>
              <a:rPr lang="zh-CN" altLang="en-US" dirty="0"/>
              <a:t> 回答问题</a:t>
            </a:r>
            <a:r>
              <a:rPr lang="en-US" altLang="zh-CN" dirty="0"/>
              <a:t>:</a:t>
            </a:r>
            <a:r>
              <a:rPr lang="zh-CN" altLang="en-US" dirty="0"/>
              <a:t> 目标满足吗</a:t>
            </a:r>
            <a:r>
              <a:rPr lang="en-US" altLang="zh-CN" dirty="0"/>
              <a:t>?</a:t>
            </a:r>
            <a:r>
              <a:rPr lang="zh-CN" altLang="en-US" dirty="0"/>
              <a:t> 范围对吗</a:t>
            </a:r>
            <a:r>
              <a:rPr lang="en-US" altLang="zh-CN" dirty="0"/>
              <a:t>?</a:t>
            </a:r>
            <a:r>
              <a:rPr lang="zh-CN" altLang="en-US" dirty="0"/>
              <a:t> 可复现吗</a:t>
            </a:r>
            <a:r>
              <a:rPr lang="en-US" altLang="zh-CN" dirty="0"/>
              <a:t>?</a:t>
            </a:r>
            <a:r>
              <a:rPr lang="zh-CN" altLang="en-US" dirty="0"/>
              <a:t> 有</a:t>
            </a:r>
            <a:r>
              <a:rPr lang="en-US" altLang="zh-CN" dirty="0"/>
              <a:t>fallback</a:t>
            </a:r>
            <a:r>
              <a:rPr lang="zh-CN" altLang="en-US" dirty="0"/>
              <a:t>吗</a:t>
            </a:r>
            <a:r>
              <a:rPr lang="en-US" altLang="zh-CN" dirty="0"/>
              <a:t>?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7225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workflow-design: </a:t>
            </a:r>
            <a:r>
              <a:rPr lang="zh-CN" altLang="en-US" dirty="0"/>
              <a:t>任务拆解</a:t>
            </a:r>
            <a:r>
              <a:rPr lang="en-US" altLang="zh-CN" dirty="0"/>
              <a:t>,</a:t>
            </a:r>
            <a:r>
              <a:rPr lang="zh-CN" altLang="en-US" dirty="0"/>
              <a:t> 工作流设计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upstream-overlap-check: </a:t>
            </a:r>
            <a:r>
              <a:rPr lang="zh-CN" altLang="en-US" dirty="0"/>
              <a:t>上游重复检查</a:t>
            </a:r>
            <a:r>
              <a:rPr lang="en-US" altLang="zh-CN" dirty="0"/>
              <a:t>,</a:t>
            </a:r>
            <a:r>
              <a:rPr lang="zh-CN" altLang="en-US" dirty="0"/>
              <a:t> 是否和</a:t>
            </a:r>
            <a:r>
              <a:rPr lang="en-US" altLang="zh-CN" dirty="0"/>
              <a:t>dev, </a:t>
            </a:r>
            <a:r>
              <a:rPr lang="zh-CN" altLang="en-US" dirty="0"/>
              <a:t>或者其他</a:t>
            </a:r>
            <a:r>
              <a:rPr lang="en-US" altLang="zh-CN" dirty="0"/>
              <a:t>pr</a:t>
            </a:r>
            <a:r>
              <a:rPr lang="zh-CN" altLang="en-US" dirty="0"/>
              <a:t>重叠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/>
              <a:t>kernel-quality-review:</a:t>
            </a:r>
            <a:r>
              <a:rPr lang="zh-CN" altLang="en-US" dirty="0"/>
              <a:t> 正确性</a:t>
            </a:r>
            <a:r>
              <a:rPr lang="en-US" altLang="zh-CN" dirty="0"/>
              <a:t>,</a:t>
            </a:r>
            <a:r>
              <a:rPr lang="zh-CN" altLang="en-US" dirty="0"/>
              <a:t> 框架复用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rust</a:t>
            </a:r>
            <a:r>
              <a:rPr lang="zh-CN" altLang="en-US" dirty="0"/>
              <a:t>质量</a:t>
            </a:r>
            <a:r>
              <a:rPr lang="en-US" altLang="zh-CN" dirty="0"/>
              <a:t>,</a:t>
            </a:r>
            <a:r>
              <a:rPr lang="zh-CN" altLang="en-US" dirty="0"/>
              <a:t> 安全分析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altLang="zh-CN" dirty="0" err="1"/>
              <a:t>linux</a:t>
            </a:r>
            <a:r>
              <a:rPr lang="en-US" altLang="zh-CN" dirty="0"/>
              <a:t>-compare: </a:t>
            </a:r>
            <a:r>
              <a:rPr lang="zh-CN" altLang="en-US" dirty="0"/>
              <a:t>真实</a:t>
            </a:r>
            <a:r>
              <a:rPr lang="en-US" altLang="zh-CN" dirty="0" err="1"/>
              <a:t>linux</a:t>
            </a:r>
            <a:r>
              <a:rPr lang="zh-CN" altLang="en-US" dirty="0"/>
              <a:t>容器中运行相同测试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en-US" altLang="zh-CN" dirty="0"/>
              <a:t>misalignment-check:</a:t>
            </a:r>
            <a:r>
              <a:rPr lang="zh-CN" altLang="en-US" dirty="0"/>
              <a:t> 语义偏差检查</a:t>
            </a:r>
            <a:endParaRPr lang="en-US" altLang="zh-CN" dirty="0"/>
          </a:p>
          <a:p>
            <a:r>
              <a:rPr lang="en-US" altLang="zh-CN" dirty="0"/>
              <a:t>6.</a:t>
            </a:r>
            <a:r>
              <a:rPr lang="zh-CN" altLang="en-US" dirty="0"/>
              <a:t> </a:t>
            </a:r>
            <a:r>
              <a:rPr lang="en-US" altLang="zh-CN" dirty="0"/>
              <a:t>bug-triage:</a:t>
            </a:r>
            <a:r>
              <a:rPr lang="zh-CN" altLang="en-US" dirty="0"/>
              <a:t> 对</a:t>
            </a:r>
            <a:r>
              <a:rPr lang="en-US" altLang="zh-CN" dirty="0"/>
              <a:t>bug</a:t>
            </a:r>
            <a:r>
              <a:rPr lang="zh-CN" altLang="en-US" dirty="0"/>
              <a:t>做分类</a:t>
            </a:r>
            <a:r>
              <a:rPr lang="en-US" altLang="zh-CN" dirty="0"/>
              <a:t>,</a:t>
            </a:r>
            <a:r>
              <a:rPr lang="zh-CN" altLang="en-US" dirty="0"/>
              <a:t> 并发、内存、语义、正确性、安全</a:t>
            </a:r>
            <a:br>
              <a:rPr lang="en-US" altLang="zh-CN" dirty="0"/>
            </a:br>
            <a:r>
              <a:rPr lang="en-US" altLang="zh-CN" dirty="0"/>
              <a:t>7.</a:t>
            </a:r>
            <a:r>
              <a:rPr lang="zh-CN" altLang="en-US" dirty="0"/>
              <a:t> </a:t>
            </a:r>
            <a:r>
              <a:rPr lang="en-US" altLang="zh-CN" dirty="0"/>
              <a:t>concurrent-bug-checker:</a:t>
            </a:r>
            <a:r>
              <a:rPr lang="zh-CN" altLang="en-US" dirty="0"/>
              <a:t> 专门找竞态、死锁、丢失唤醒、原子性、失败路径检查等各种</a:t>
            </a:r>
            <a:r>
              <a:rPr lang="en-US" altLang="zh-CN" dirty="0"/>
              <a:t>bug</a:t>
            </a:r>
          </a:p>
          <a:p>
            <a:r>
              <a:rPr lang="en-US" altLang="zh-CN" dirty="0"/>
              <a:t>8.</a:t>
            </a:r>
            <a:r>
              <a:rPr lang="zh-CN" altLang="en-US" dirty="0"/>
              <a:t> </a:t>
            </a:r>
            <a:r>
              <a:rPr lang="en-US" altLang="zh-CN" dirty="0"/>
              <a:t>cross-</a:t>
            </a:r>
            <a:r>
              <a:rPr lang="en-US" altLang="zh-CN" dirty="0" err="1"/>
              <a:t>syscall</a:t>
            </a:r>
            <a:r>
              <a:rPr lang="en-US" altLang="zh-CN" dirty="0"/>
              <a:t>-bug-checker:</a:t>
            </a:r>
            <a:r>
              <a:rPr lang="zh-CN" altLang="en-US" dirty="0"/>
              <a:t> 不同</a:t>
            </a:r>
            <a:r>
              <a:rPr lang="en-US" altLang="zh-CN" dirty="0" err="1"/>
              <a:t>syscall</a:t>
            </a:r>
            <a:r>
              <a:rPr lang="zh-CN" altLang="en-US" dirty="0"/>
              <a:t>共享内核状态时产生的</a:t>
            </a:r>
            <a:r>
              <a:rPr lang="en-US" altLang="zh-CN" dirty="0"/>
              <a:t>bug</a:t>
            </a:r>
          </a:p>
          <a:p>
            <a:r>
              <a:rPr lang="en-US" altLang="zh-CN" dirty="0"/>
              <a:t>9.</a:t>
            </a:r>
            <a:r>
              <a:rPr lang="zh-CN" altLang="en-US" dirty="0"/>
              <a:t> </a:t>
            </a:r>
            <a:r>
              <a:rPr lang="en-US" altLang="zh-CN" dirty="0"/>
              <a:t>multilayer-test: </a:t>
            </a:r>
            <a:r>
              <a:rPr lang="zh-CN" altLang="en-US" dirty="0"/>
              <a:t>多个层次测试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fmt</a:t>
            </a:r>
            <a:r>
              <a:rPr lang="en-US" altLang="zh-CN" dirty="0"/>
              <a:t>, </a:t>
            </a:r>
            <a:r>
              <a:rPr lang="en-US" altLang="zh-CN" dirty="0" err="1"/>
              <a:t>clippy</a:t>
            </a:r>
            <a:r>
              <a:rPr lang="en-US" altLang="zh-CN" dirty="0"/>
              <a:t>,</a:t>
            </a:r>
            <a:r>
              <a:rPr lang="zh-CN" altLang="en-US" dirty="0"/>
              <a:t> 编译链接</a:t>
            </a:r>
            <a:r>
              <a:rPr lang="en-US" altLang="zh-CN" dirty="0"/>
              <a:t>,</a:t>
            </a:r>
            <a:r>
              <a:rPr lang="zh-CN" altLang="en-US" dirty="0"/>
              <a:t> 单元测试</a:t>
            </a:r>
            <a:r>
              <a:rPr lang="en-US" altLang="zh-CN" dirty="0"/>
              <a:t>,</a:t>
            </a:r>
            <a:r>
              <a:rPr lang="zh-CN" altLang="en-US" dirty="0"/>
              <a:t> 集成测试、</a:t>
            </a:r>
            <a:r>
              <a:rPr lang="en-US" altLang="zh-CN" dirty="0"/>
              <a:t>e2e</a:t>
            </a:r>
            <a:r>
              <a:rPr lang="zh-CN" altLang="en-US" dirty="0"/>
              <a:t>测试</a:t>
            </a:r>
            <a:r>
              <a:rPr lang="en-US" altLang="zh-CN" dirty="0"/>
              <a:t>,</a:t>
            </a:r>
            <a:r>
              <a:rPr lang="zh-CN" altLang="en-US" dirty="0"/>
              <a:t> 压力测试如并发等</a:t>
            </a:r>
            <a:endParaRPr lang="en-US" altLang="zh-CN" dirty="0"/>
          </a:p>
          <a:p>
            <a:r>
              <a:rPr lang="en-US" altLang="zh-CN" dirty="0"/>
              <a:t>10.</a:t>
            </a:r>
            <a:r>
              <a:rPr lang="zh-CN" altLang="en-US" dirty="0"/>
              <a:t> </a:t>
            </a:r>
            <a:r>
              <a:rPr lang="en-US" altLang="zh-CN" dirty="0"/>
              <a:t>ci-monitor:</a:t>
            </a:r>
            <a:r>
              <a:rPr lang="zh-CN" altLang="en-US" dirty="0"/>
              <a:t> 用</a:t>
            </a:r>
            <a:r>
              <a:rPr lang="en-US" altLang="zh-CN" dirty="0" err="1"/>
              <a:t>github</a:t>
            </a:r>
            <a:r>
              <a:rPr lang="en-US" altLang="zh-CN" dirty="0"/>
              <a:t> cli (</a:t>
            </a:r>
            <a:r>
              <a:rPr lang="en-US" altLang="zh-CN" dirty="0" err="1"/>
              <a:t>gh</a:t>
            </a:r>
            <a:r>
              <a:rPr lang="en-US" altLang="zh-CN" dirty="0"/>
              <a:t>)</a:t>
            </a:r>
            <a:r>
              <a:rPr lang="zh-CN" altLang="en-US" dirty="0"/>
              <a:t> 检测</a:t>
            </a:r>
            <a:r>
              <a:rPr lang="en-US" altLang="zh-CN" dirty="0"/>
              <a:t>ci</a:t>
            </a:r>
            <a:r>
              <a:rPr lang="zh-CN" altLang="en-US" dirty="0"/>
              <a:t>状态</a:t>
            </a:r>
            <a:endParaRPr lang="en-US" altLang="zh-CN" dirty="0"/>
          </a:p>
          <a:p>
            <a:r>
              <a:rPr lang="en-US" altLang="zh-CN" dirty="0"/>
              <a:t>11.</a:t>
            </a:r>
            <a:r>
              <a:rPr lang="zh-CN" altLang="en-US" dirty="0"/>
              <a:t> </a:t>
            </a:r>
            <a:r>
              <a:rPr lang="en-US" altLang="zh-CN" dirty="0"/>
              <a:t>audit:</a:t>
            </a:r>
            <a:r>
              <a:rPr lang="zh-CN" altLang="en-US" dirty="0"/>
              <a:t> 对照原始需求、</a:t>
            </a:r>
            <a:r>
              <a:rPr lang="en-US" altLang="zh-CN" dirty="0" err="1"/>
              <a:t>workflow.md</a:t>
            </a:r>
            <a:r>
              <a:rPr lang="zh-CN" altLang="en-US" dirty="0"/>
              <a:t>和验收标准审计最终成果</a:t>
            </a:r>
            <a:r>
              <a:rPr lang="en-US" altLang="zh-CN" dirty="0"/>
              <a:t>.</a:t>
            </a:r>
            <a:r>
              <a:rPr lang="zh-CN" altLang="en-US" dirty="0"/>
              <a:t> 回答问题</a:t>
            </a:r>
            <a:r>
              <a:rPr lang="en-US" altLang="zh-CN" dirty="0"/>
              <a:t>:</a:t>
            </a:r>
            <a:r>
              <a:rPr lang="zh-CN" altLang="en-US" dirty="0"/>
              <a:t> 目标满足吗</a:t>
            </a:r>
            <a:r>
              <a:rPr lang="en-US" altLang="zh-CN" dirty="0"/>
              <a:t>?</a:t>
            </a:r>
            <a:r>
              <a:rPr lang="zh-CN" altLang="en-US" dirty="0"/>
              <a:t> 范围对吗</a:t>
            </a:r>
            <a:r>
              <a:rPr lang="en-US" altLang="zh-CN" dirty="0"/>
              <a:t>?</a:t>
            </a:r>
            <a:r>
              <a:rPr lang="zh-CN" altLang="en-US" dirty="0"/>
              <a:t> 可复现吗</a:t>
            </a:r>
            <a:r>
              <a:rPr lang="en-US" altLang="zh-CN" dirty="0"/>
              <a:t>?</a:t>
            </a:r>
            <a:r>
              <a:rPr lang="zh-CN" altLang="en-US" dirty="0"/>
              <a:t> 有</a:t>
            </a:r>
            <a:r>
              <a:rPr lang="en-US" altLang="zh-CN" dirty="0"/>
              <a:t>fallback</a:t>
            </a:r>
            <a:r>
              <a:rPr lang="zh-CN" altLang="en-US" dirty="0"/>
              <a:t>吗</a:t>
            </a:r>
            <a:r>
              <a:rPr lang="en-US" altLang="zh-CN" dirty="0"/>
              <a:t>?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18648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2159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1. 什么不够细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54847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为什么不用mandatory lock</a:t>
            </a:r>
            <a:r>
              <a:rPr lang="en-US" altLang="zh-CN" dirty="0"/>
              <a:t>?</a:t>
            </a:r>
            <a:r>
              <a:rPr lang="zh-CN" altLang="en-US" dirty="0"/>
              <a:t> 因为 </a:t>
            </a:r>
            <a:r>
              <a:rPr lang="en-US" altLang="zh-CN" dirty="0"/>
              <a:t>(1)</a:t>
            </a:r>
            <a:r>
              <a:rPr lang="zh-CN" altLang="en-US" dirty="0"/>
              <a:t> 普通用户进程可以对关键文件强行加锁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CN" dirty="0"/>
              <a:t>(2)</a:t>
            </a:r>
            <a:r>
              <a:rPr lang="zh-CN" altLang="en-US" dirty="0"/>
              <a:t> </a:t>
            </a:r>
            <a:r>
              <a:rPr lang="en-US" altLang="zh-CN" dirty="0"/>
              <a:t>advisory lock</a:t>
            </a:r>
            <a:r>
              <a:rPr lang="zh-CN" altLang="en-US" dirty="0"/>
              <a:t>只有在主动声明的时候才查表加锁</a:t>
            </a:r>
            <a:r>
              <a:rPr lang="en-US" altLang="zh-CN" dirty="0"/>
              <a:t>,</a:t>
            </a:r>
            <a:r>
              <a:rPr lang="zh-CN" altLang="en-US" dirty="0"/>
              <a:t> 但对</a:t>
            </a:r>
            <a:r>
              <a:rPr lang="en-US" altLang="zh-CN" dirty="0"/>
              <a:t>mandatory lock,</a:t>
            </a:r>
            <a:r>
              <a:rPr lang="zh-CN" altLang="en-US" dirty="0"/>
              <a:t> 每次读写都必须有内核查表</a:t>
            </a:r>
            <a:r>
              <a:rPr lang="en-US" altLang="zh-CN" dirty="0"/>
              <a:t>,</a:t>
            </a:r>
            <a:r>
              <a:rPr lang="zh-CN" altLang="en-US" dirty="0"/>
              <a:t> 开销很大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重要</a:t>
            </a:r>
            <a:r>
              <a:rPr lang="en-US" altLang="zh-CN" dirty="0"/>
              <a:t>!!!</a:t>
            </a:r>
            <a:r>
              <a:rPr lang="zh-CN" altLang="en-US" dirty="0"/>
              <a:t> </a:t>
            </a:r>
            <a:r>
              <a:rPr lang="en-CN" dirty="0"/>
              <a:t>POSIX 规定，进程关闭该文件的</a:t>
            </a:r>
            <a:r>
              <a:rPr lang="en-CN" b="1" dirty="0"/>
              <a:t>任意一个</a:t>
            </a:r>
            <a:r>
              <a:rPr lang="en-CN" dirty="0"/>
              <a:t> fd，该进程在这个文件上持有的</a:t>
            </a:r>
            <a:r>
              <a:rPr lang="en-CN" b="1" dirty="0"/>
              <a:t>所有</a:t>
            </a:r>
            <a:r>
              <a:rPr lang="en-CN" dirty="0"/>
              <a:t> </a:t>
            </a:r>
            <a:r>
              <a:rPr lang="en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fcntl</a:t>
            </a:r>
            <a:r>
              <a:rPr lang="en-CN" dirty="0"/>
              <a:t> 锁都会被释放！</a:t>
            </a:r>
            <a:endParaRPr lang="en-US" altLang="zh-CN" dirty="0"/>
          </a:p>
          <a:p>
            <a:pPr marL="228600" indent="-228600">
              <a:buAutoNum type="arabicParenBoth"/>
            </a:pPr>
            <a:r>
              <a:rPr lang="zh-CN" altLang="en-US" dirty="0"/>
              <a:t>全局表的锁粒度</a:t>
            </a:r>
            <a:r>
              <a:rPr lang="en-US" altLang="zh-CN" dirty="0"/>
              <a:t>?</a:t>
            </a:r>
          </a:p>
          <a:p>
            <a:pPr marL="228600" indent="-228600">
              <a:buAutoNum type="arabicParenBoth"/>
            </a:pPr>
            <a:r>
              <a:rPr lang="en-US" dirty="0" err="1"/>
              <a:t>阻塞版本请求锁的时候</a:t>
            </a:r>
            <a:r>
              <a:rPr lang="en-US" altLang="zh-CN" dirty="0"/>
              <a:t>,</a:t>
            </a:r>
            <a:r>
              <a:rPr lang="zh-CN" altLang="en-US" dirty="0"/>
              <a:t> 有没有等待图</a:t>
            </a:r>
            <a:r>
              <a:rPr lang="en-US" altLang="zh-CN" dirty="0"/>
              <a:t>?</a:t>
            </a:r>
          </a:p>
          <a:p>
            <a:pPr marL="228600" indent="-228600">
              <a:buAutoNum type="arabicParenBoth"/>
            </a:pPr>
            <a:r>
              <a:rPr lang="en-US" dirty="0"/>
              <a:t>P</a:t>
            </a:r>
            <a:r>
              <a:rPr lang="en-CN" dirty="0"/>
              <a:t>osix规定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flock</a:t>
            </a:r>
            <a:r>
              <a:rPr lang="zh-CN" altLang="en-US" dirty="0"/>
              <a:t>锁属于</a:t>
            </a:r>
            <a:r>
              <a:rPr lang="en-US" altLang="zh-CN" dirty="0"/>
              <a:t>OFD,</a:t>
            </a:r>
            <a:r>
              <a:rPr lang="zh-CN" altLang="en-US" dirty="0"/>
              <a:t> 因此继承</a:t>
            </a:r>
            <a:r>
              <a:rPr lang="en-US" altLang="zh-CN" dirty="0"/>
              <a:t>,</a:t>
            </a:r>
            <a:r>
              <a:rPr lang="zh-CN" altLang="en-US" dirty="0"/>
              <a:t> 而</a:t>
            </a:r>
            <a:r>
              <a:rPr lang="en-US" altLang="zh-CN" dirty="0" err="1"/>
              <a:t>fcntl</a:t>
            </a:r>
            <a:r>
              <a:rPr lang="zh-CN" altLang="en-US" dirty="0"/>
              <a:t>锁不继承</a:t>
            </a:r>
            <a:r>
              <a:rPr lang="en-US" altLang="zh-CN" dirty="0"/>
              <a:t>;</a:t>
            </a:r>
          </a:p>
          <a:p>
            <a:pPr marL="228600" indent="-228600">
              <a:buAutoNum type="arabicParenBoth"/>
            </a:pPr>
            <a:r>
              <a:rPr lang="en-CN" dirty="0"/>
              <a:t>一致性回滚</a:t>
            </a:r>
            <a:r>
              <a:rPr lang="en-US" altLang="zh-CN" dirty="0"/>
              <a:t>,</a:t>
            </a:r>
            <a:r>
              <a:rPr lang="zh-CN" altLang="en-US" dirty="0"/>
              <a:t> 不破环状态</a:t>
            </a:r>
            <a:endParaRPr lang="en-US" altLang="zh-CN" dirty="0"/>
          </a:p>
          <a:p>
            <a:pPr marL="228600" indent="-228600">
              <a:buAutoNum type="arabicParenBoth"/>
            </a:pPr>
            <a:endParaRPr lang="en-US" dirty="0"/>
          </a:p>
          <a:p>
            <a:pPr marL="228600" indent="-228600">
              <a:buAutoNum type="arabicParenBoth"/>
            </a:pPr>
            <a:r>
              <a:rPr lang="en-CN" dirty="0"/>
              <a:t>返回值模式问题</a:t>
            </a:r>
            <a:r>
              <a:rPr lang="en-US" altLang="zh-CN" dirty="0"/>
              <a:t>:</a:t>
            </a:r>
            <a:r>
              <a:rPr lang="zh-CN" altLang="en-US" dirty="0"/>
              <a:t> 阻塞版本和非阻塞版本</a:t>
            </a:r>
            <a:r>
              <a:rPr lang="en-US" altLang="zh-CN" dirty="0"/>
              <a:t>,</a:t>
            </a:r>
            <a:r>
              <a:rPr lang="zh-CN" altLang="en-US" dirty="0"/>
              <a:t> 前者遇到冲突立即失败</a:t>
            </a:r>
            <a:r>
              <a:rPr lang="en-US" altLang="zh-CN" dirty="0"/>
              <a:t>,</a:t>
            </a:r>
            <a:r>
              <a:rPr lang="zh-CN" altLang="en-US" dirty="0"/>
              <a:t> 后者等待</a:t>
            </a:r>
            <a:r>
              <a:rPr lang="en-US" altLang="zh-CN" dirty="0"/>
              <a:t>,</a:t>
            </a:r>
            <a:r>
              <a:rPr lang="zh-CN" altLang="en-US" dirty="0"/>
              <a:t> 开始没有实现阻塞语义</a:t>
            </a:r>
            <a:r>
              <a:rPr lang="en-US" altLang="zh-CN" dirty="0"/>
              <a:t>;</a:t>
            </a:r>
          </a:p>
          <a:p>
            <a:pPr marL="228600" indent="-228600">
              <a:buAutoNum type="arabicParenBoth"/>
            </a:pPr>
            <a:r>
              <a:rPr lang="en-US" dirty="0" err="1"/>
              <a:t>唤醒开始是做锁的个数</a:t>
            </a:r>
            <a:r>
              <a:rPr lang="en-US" altLang="zh-CN" dirty="0"/>
              <a:t>,</a:t>
            </a:r>
            <a:r>
              <a:rPr lang="zh-CN" altLang="en-US" dirty="0"/>
              <a:t> 但现在只要有重叠区间被释放就会</a:t>
            </a:r>
            <a:endParaRPr lang="en-US" altLang="zh-CN" dirty="0"/>
          </a:p>
          <a:p>
            <a:pPr marL="228600" indent="-228600">
              <a:buAutoNum type="arabicParenBoth"/>
            </a:pPr>
            <a:r>
              <a:rPr lang="zh-CN" altLang="en-US" dirty="0"/>
              <a:t>子进程退出问题</a:t>
            </a:r>
            <a:r>
              <a:rPr lang="en-US" altLang="zh-CN" dirty="0"/>
              <a:t>,</a:t>
            </a:r>
            <a:r>
              <a:rPr lang="zh-CN" altLang="en-US" dirty="0"/>
              <a:t> 进程拿了</a:t>
            </a:r>
            <a:r>
              <a:rPr lang="en-US" altLang="zh-CN" dirty="0" err="1"/>
              <a:t>fcntl</a:t>
            </a:r>
            <a:r>
              <a:rPr lang="zh-CN" altLang="en-US" dirty="0"/>
              <a:t>锁之后</a:t>
            </a:r>
            <a:r>
              <a:rPr lang="en-US" altLang="zh-CN" dirty="0"/>
              <a:t>,</a:t>
            </a:r>
            <a:r>
              <a:rPr lang="zh-CN" altLang="en-US" dirty="0"/>
              <a:t> 要清理</a:t>
            </a:r>
            <a:r>
              <a:rPr lang="en-US" altLang="zh-CN" dirty="0"/>
              <a:t>,</a:t>
            </a:r>
            <a:r>
              <a:rPr lang="zh-CN" altLang="en-US" dirty="0"/>
              <a:t> 以及关键地</a:t>
            </a:r>
            <a:r>
              <a:rPr lang="en-US" altLang="zh-CN" dirty="0"/>
              <a:t>,</a:t>
            </a:r>
            <a:r>
              <a:rPr lang="zh-CN" altLang="en-US" dirty="0"/>
              <a:t> 关闭任何一个</a:t>
            </a:r>
            <a:r>
              <a:rPr lang="en-US" altLang="zh-CN" dirty="0" err="1"/>
              <a:t>fd</a:t>
            </a:r>
            <a:r>
              <a:rPr lang="en-US" altLang="zh-CN" dirty="0"/>
              <a:t>,</a:t>
            </a:r>
            <a:r>
              <a:rPr lang="zh-CN" altLang="en-US" dirty="0"/>
              <a:t> 都会释放所有</a:t>
            </a:r>
            <a:r>
              <a:rPr lang="en-US" altLang="zh-CN" dirty="0" err="1"/>
              <a:t>fcntl</a:t>
            </a:r>
            <a:r>
              <a:rPr lang="zh-CN" altLang="en-US" dirty="0"/>
              <a:t>锁</a:t>
            </a:r>
            <a:endParaRPr lang="en-US" altLang="zh-CN" dirty="0"/>
          </a:p>
          <a:p>
            <a:pPr marL="228600" indent="-228600">
              <a:buAutoNum type="arabicParenBoth"/>
            </a:pPr>
            <a:r>
              <a:rPr lang="zh-CN" altLang="en-US" dirty="0"/>
              <a:t>对</a:t>
            </a:r>
            <a:r>
              <a:rPr lang="en-US" altLang="zh-CN" dirty="0" err="1"/>
              <a:t>fcntl</a:t>
            </a:r>
            <a:r>
              <a:rPr lang="en-US" altLang="zh-CN" dirty="0"/>
              <a:t>,</a:t>
            </a:r>
            <a:r>
              <a:rPr lang="zh-CN" altLang="en-US" dirty="0"/>
              <a:t>  失败不应该破坏已有状态</a:t>
            </a:r>
            <a:r>
              <a:rPr lang="en-US" altLang="zh-CN" dirty="0"/>
              <a:t>;</a:t>
            </a:r>
            <a:r>
              <a:rPr lang="zh-CN" altLang="en-US" dirty="0"/>
              <a:t> 而</a:t>
            </a:r>
            <a:r>
              <a:rPr lang="en-US" altLang="zh-CN" dirty="0"/>
              <a:t>flock</a:t>
            </a:r>
            <a:r>
              <a:rPr lang="zh-CN" altLang="en-US" dirty="0"/>
              <a:t>的转换是非原子的</a:t>
            </a:r>
            <a:endParaRPr lang="en-US" altLang="zh-CN" dirty="0"/>
          </a:p>
          <a:p>
            <a:pPr marL="228600" indent="-228600">
              <a:buAutoNum type="arabicParenBoth"/>
            </a:pPr>
            <a:endParaRPr lang="en-US" dirty="0"/>
          </a:p>
          <a:p>
            <a:pPr marL="228600" indent="-228600">
              <a:buAutoNum type="arabicParenBoth"/>
            </a:pPr>
            <a:endParaRPr lang="en-US" dirty="0"/>
          </a:p>
          <a:p>
            <a:pPr marL="228600" indent="-228600">
              <a:buAutoNum type="arabicParenBoth"/>
            </a:pPr>
            <a:r>
              <a:rPr lang="en-CN" dirty="0"/>
              <a:t>区分清楚fcntl是进程-level的锁</a:t>
            </a:r>
            <a:r>
              <a:rPr lang="en-US" altLang="zh-CN" dirty="0"/>
              <a:t>,</a:t>
            </a:r>
            <a:r>
              <a:rPr lang="zh-CN" altLang="en-US" dirty="0"/>
              <a:t> 锁小范围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CN" dirty="0"/>
              <a:t>flock</a:t>
            </a:r>
            <a:r>
              <a:rPr lang="zh-CN" altLang="en-US" dirty="0"/>
              <a:t>是</a:t>
            </a:r>
            <a:r>
              <a:rPr lang="en-US" altLang="zh-CN" dirty="0" err="1"/>
              <a:t>fd</a:t>
            </a:r>
            <a:r>
              <a:rPr lang="en-US" altLang="zh-CN" dirty="0"/>
              <a:t>-level</a:t>
            </a:r>
            <a:r>
              <a:rPr lang="zh-CN" altLang="en-US" dirty="0"/>
              <a:t>的锁</a:t>
            </a:r>
            <a:r>
              <a:rPr lang="en-US" altLang="zh-CN" dirty="0"/>
              <a:t>,</a:t>
            </a:r>
            <a:r>
              <a:rPr lang="zh-CN" altLang="en-US" dirty="0"/>
              <a:t> 锁整个文件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9275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daemon</a:t>
            </a:r>
            <a:r>
              <a:rPr lang="zh-CN" altLang="en-US" dirty="0"/>
              <a:t>守护进程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 err="1"/>
              <a:t>acpid</a:t>
            </a:r>
            <a:r>
              <a:rPr lang="en-US" altLang="zh-CN" dirty="0"/>
              <a:t>, </a:t>
            </a:r>
            <a:r>
              <a:rPr lang="zh-CN" altLang="en-US" dirty="0"/>
              <a:t>电源事件守护进程 </a:t>
            </a:r>
            <a:r>
              <a:rPr lang="en-US" altLang="zh-CN" dirty="0"/>
              <a:t>-&gt; </a:t>
            </a:r>
            <a:r>
              <a:rPr lang="zh-CN" altLang="en-US" dirty="0"/>
              <a:t>传错参数</a:t>
            </a:r>
            <a:r>
              <a:rPr lang="en-US" altLang="zh-CN" dirty="0"/>
              <a:t>,</a:t>
            </a:r>
            <a:r>
              <a:rPr lang="zh-CN" altLang="en-US" dirty="0"/>
              <a:t> 让</a:t>
            </a:r>
            <a:r>
              <a:rPr lang="en-US" altLang="zh-CN" dirty="0" err="1"/>
              <a:t>acpid</a:t>
            </a:r>
            <a:r>
              <a:rPr lang="zh-CN" altLang="en-US" dirty="0"/>
              <a:t>能够输出内容</a:t>
            </a:r>
            <a:r>
              <a:rPr lang="en-US" altLang="zh-CN" dirty="0"/>
              <a:t>.</a:t>
            </a:r>
            <a:r>
              <a:rPr lang="zh-CN" altLang="en-US" dirty="0"/>
              <a:t> 因为现阶段底层没有可以监听的硬件</a:t>
            </a:r>
            <a:r>
              <a:rPr lang="en-US" altLang="zh-CN" dirty="0"/>
              <a:t>.</a:t>
            </a:r>
          </a:p>
          <a:p>
            <a:r>
              <a:rPr lang="en-US" altLang="zh-CN" dirty="0" err="1"/>
              <a:t>daemonization</a:t>
            </a:r>
            <a:r>
              <a:rPr lang="zh-CN" altLang="en-US" dirty="0"/>
              <a:t>机制</a:t>
            </a:r>
            <a:r>
              <a:rPr lang="en-US" altLang="zh-CN" dirty="0"/>
              <a:t>:</a:t>
            </a:r>
            <a:r>
              <a:rPr lang="zh-CN" altLang="en-US" dirty="0"/>
              <a:t> 关闭</a:t>
            </a:r>
            <a:r>
              <a:rPr lang="en-US" altLang="zh-CN" dirty="0"/>
              <a:t>012</a:t>
            </a:r>
            <a:r>
              <a:rPr lang="zh-CN" altLang="en-US" dirty="0"/>
              <a:t>三个文件描述符</a:t>
            </a:r>
            <a:r>
              <a:rPr lang="en-US" altLang="zh-CN" dirty="0"/>
              <a:t>,</a:t>
            </a:r>
            <a:r>
              <a:rPr lang="zh-CN" altLang="en-US" dirty="0"/>
              <a:t> 重定向到</a:t>
            </a:r>
            <a:r>
              <a:rPr lang="en-US" altLang="zh-CN" dirty="0"/>
              <a:t>/dev/null</a:t>
            </a:r>
            <a:br>
              <a:rPr lang="en-US" altLang="zh-CN" dirty="0"/>
            </a:b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CN" dirty="0"/>
              <a:t>去翻了 BusyBox 的底层源码（</a:t>
            </a:r>
            <a:r>
              <a:rPr lang="en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add-remove-shell.c</a:t>
            </a:r>
            <a:r>
              <a:rPr lang="en-CN" dirty="0"/>
              <a:t>），发现</a:t>
            </a:r>
            <a:r>
              <a:rPr lang="en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/bin/sh</a:t>
            </a:r>
            <a:r>
              <a:rPr lang="en-CN" dirty="0"/>
              <a:t> 本来就已经存在于系统的 </a:t>
            </a:r>
            <a:r>
              <a:rPr lang="en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/etc/shells</a:t>
            </a:r>
            <a:r>
              <a:rPr lang="en-CN" dirty="0"/>
              <a:t> 文件里了。BusyBox 的逻辑是：</a:t>
            </a:r>
            <a:r>
              <a:rPr lang="en-CN" b="1" dirty="0"/>
              <a:t>如果要添加的 shell 已经存在，就直接静默成功（什么都不打印并返回 0）</a:t>
            </a:r>
            <a:r>
              <a:rPr lang="en-CN" dirty="0"/>
              <a:t>。测试时不再添加 </a:t>
            </a:r>
            <a:r>
              <a:rPr lang="en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/bin/sh</a:t>
            </a:r>
            <a:r>
              <a:rPr lang="en-CN" dirty="0"/>
              <a:t>，而是用 </a:t>
            </a:r>
            <a:r>
              <a:rPr lang="en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$$</a:t>
            </a:r>
            <a:r>
              <a:rPr lang="en-CN" dirty="0"/>
              <a:t>（当前进程号）生成一个绝对唯一的临时路径（比如 </a:t>
            </a:r>
            <a:r>
              <a:rPr lang="en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/bin/sh_1234</a:t>
            </a:r>
            <a:r>
              <a:rPr lang="en-CN" dirty="0"/>
              <a:t>）。这样就能逼迫 BusyBox 必须走完整个“读取 → 写入新文件 → 重命名替换”的真实底层链路。</a:t>
            </a:r>
          </a:p>
          <a:p>
            <a:r>
              <a:rPr lang="en-CN" dirty="0"/>
              <a:t>之后加强测试</a:t>
            </a:r>
            <a:r>
              <a:rPr lang="en-US" altLang="zh-CN" dirty="0"/>
              <a:t>,</a:t>
            </a:r>
            <a:r>
              <a:rPr lang="zh-CN" altLang="en-US" dirty="0"/>
              <a:t> 一定需要 </a:t>
            </a:r>
            <a:r>
              <a:rPr lang="en-US" altLang="zh-CN" dirty="0"/>
              <a:t>(1)</a:t>
            </a:r>
            <a:r>
              <a:rPr lang="zh-CN" altLang="en-US" dirty="0"/>
              <a:t> 正常返回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CN" dirty="0"/>
              <a:t>(2)</a:t>
            </a:r>
            <a:r>
              <a:rPr lang="zh-CN" altLang="en-US" dirty="0"/>
              <a:t> 真实创建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CN" dirty="0"/>
              <a:t>(3)</a:t>
            </a:r>
            <a:r>
              <a:rPr lang="zh-CN" altLang="en-US" dirty="0"/>
              <a:t> 正常删除临时文件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 err="1"/>
              <a:t>crond</a:t>
            </a:r>
            <a:r>
              <a:rPr lang="zh-CN" altLang="en-US" dirty="0"/>
              <a:t>和</a:t>
            </a:r>
            <a:r>
              <a:rPr lang="en-US" altLang="zh-CN" dirty="0"/>
              <a:t>crontab</a:t>
            </a:r>
            <a:r>
              <a:rPr lang="zh-CN" altLang="en-US" dirty="0"/>
              <a:t>是一起的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crontab</a:t>
            </a:r>
            <a:r>
              <a:rPr lang="zh-CN" altLang="en-US" dirty="0"/>
              <a:t>负责编辑文件</a:t>
            </a:r>
            <a:r>
              <a:rPr lang="en-US" altLang="zh-CN" dirty="0"/>
              <a:t>,</a:t>
            </a:r>
            <a:r>
              <a:rPr lang="zh-CN" altLang="en-US" dirty="0"/>
              <a:t> 编写计划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 err="1"/>
              <a:t>crond</a:t>
            </a:r>
            <a:r>
              <a:rPr lang="zh-CN" altLang="en-US" dirty="0"/>
              <a:t>负责执行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TRUNC</a:t>
            </a:r>
            <a:r>
              <a:rPr lang="zh-CN" altLang="en-US" dirty="0"/>
              <a:t>清空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APPEND</a:t>
            </a:r>
            <a:r>
              <a:rPr lang="zh-CN" altLang="en-US" dirty="0"/>
              <a:t>追加写清空后的文件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WRONLY</a:t>
            </a:r>
            <a:r>
              <a:rPr lang="zh-CN" altLang="en-US" dirty="0"/>
              <a:t>不会删除</a:t>
            </a:r>
            <a:r>
              <a:rPr lang="zh-CN" altLang="en-CN" dirty="0"/>
              <a:t>旧数据</a:t>
            </a:r>
            <a:r>
              <a:rPr lang="en-US" altLang="zh-CN" dirty="0"/>
              <a:t>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7650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04160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为什么</a:t>
            </a:r>
            <a:r>
              <a:rPr lang="en-US" altLang="zh-CN" dirty="0"/>
              <a:t>2^n,</a:t>
            </a:r>
            <a:r>
              <a:rPr lang="zh-CN" altLang="en-US" dirty="0"/>
              <a:t> 因为方便做位运算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2.</a:t>
            </a:r>
            <a:r>
              <a:rPr lang="zh-CN" altLang="en-US" dirty="0"/>
              <a:t> 如何实现高效的环形缓冲区</a:t>
            </a:r>
            <a:r>
              <a:rPr lang="en-US" altLang="zh-CN" dirty="0"/>
              <a:t>,</a:t>
            </a:r>
            <a:r>
              <a:rPr lang="zh-CN" altLang="en-US" dirty="0"/>
              <a:t> 映射两次</a:t>
            </a:r>
            <a:r>
              <a:rPr lang="en-US" altLang="zh-CN" dirty="0"/>
              <a:t>,</a:t>
            </a:r>
            <a:r>
              <a:rPr lang="zh-CN" altLang="en-US" dirty="0"/>
              <a:t> 看似有两倍的空间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3.</a:t>
            </a:r>
            <a:r>
              <a:rPr lang="zh-CN" altLang="en-US" dirty="0"/>
              <a:t> 为什么加</a:t>
            </a:r>
            <a:r>
              <a:rPr lang="en-US" altLang="zh-CN" dirty="0"/>
              <a:t>1?</a:t>
            </a:r>
            <a:r>
              <a:rPr lang="zh-CN" altLang="en-US" dirty="0"/>
              <a:t> 是控制页</a:t>
            </a:r>
            <a:r>
              <a:rPr lang="en-US" altLang="zh-CN" dirty="0"/>
              <a:t>,</a:t>
            </a:r>
            <a:r>
              <a:rPr lang="zh-CN" altLang="en-US" dirty="0"/>
              <a:t> 写指针和读指针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100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我学到了什么</a:t>
            </a:r>
            <a:r>
              <a:rPr lang="en-US" altLang="zh-CN" dirty="0"/>
              <a:t>?</a:t>
            </a:r>
            <a:r>
              <a:rPr lang="zh-CN" altLang="en-US" dirty="0"/>
              <a:t> </a:t>
            </a:r>
            <a:r>
              <a:rPr lang="en-US" altLang="zh-CN" dirty="0"/>
              <a:t>(1)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工程经验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workflow, harness, skills, agents (</a:t>
            </a:r>
            <a:r>
              <a:rPr lang="zh-CN" altLang="en-US" dirty="0"/>
              <a:t>我以前都是在网页端</a:t>
            </a:r>
            <a:r>
              <a:rPr lang="en-US" altLang="zh-CN" dirty="0"/>
              <a:t>chatbot</a:t>
            </a:r>
            <a:r>
              <a:rPr lang="zh-CN" altLang="en-US" dirty="0"/>
              <a:t>聊天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(2)</a:t>
            </a:r>
            <a:r>
              <a:rPr lang="zh-CN" altLang="en-US" dirty="0"/>
              <a:t> 更深入理解了操作系统</a:t>
            </a:r>
            <a:r>
              <a:rPr lang="en-US" altLang="zh-CN" dirty="0"/>
              <a:t>,</a:t>
            </a:r>
            <a:r>
              <a:rPr lang="zh-CN" altLang="en-US" dirty="0"/>
              <a:t> 比如说内存、文件系统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15BEE-7055-0644-8EFF-7660685306A5}" type="slidenum">
              <a:rPr lang="en-CN" smtClean="0"/>
              <a:t>28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753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7B381-97C5-E580-5BEC-2E5A0514A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EB728-535C-3BB0-9A5A-25CB12F44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15B06-D226-6652-2197-7A841128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E2606-1386-321E-2F44-A1EA26CA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2EE8-D6AE-871B-D32B-D4F28A01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648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522B8-1CE8-6501-8281-9F51FCD7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A8468-2AD8-E863-87E9-154A78BC0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B4A54-4467-E673-7770-2C0045553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CEA97-9E25-5988-5E19-9C78C293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8157F-3D0C-3B9B-9F71-CBB5566A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078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99D7-01C4-8A0A-8FB5-E37DD787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E919E-94F8-D264-6240-F7691A632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A86C6-DD27-E67D-A8A8-B360660B7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D7462-A207-B29D-897F-DAFAB0D59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7F260-0F85-57D7-374D-DE8CA5E5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247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7044-14DD-A12D-3093-FB8B8A76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1ED85-C4DC-03EB-72AF-C9B0DA46C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BE2FB-FAEB-0A01-6CEA-7C4CE723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E1E60-ECC5-0E29-161E-4B987E5E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A154-8CE2-63DC-008E-E105E770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8C982-6AB7-B1B3-3416-F5161E98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7659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8B32-5B62-3171-DC3E-A9412A73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3D7B3-51EA-7CF9-04E0-657483398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B0771-B797-A074-A3E4-23C926B97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C8288-0872-D2F1-4741-CA7A25770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A4BA9-6FA5-01B8-9A40-63064BE93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150E4-8404-B20A-BA4E-79C8C981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4808D-1B27-3292-E71A-847ADC21C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25BA1-C2C8-B55C-A1C1-99EDF3B74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2773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CC8C-7B88-1E1F-CC7F-6307C345E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15C42-9D6E-6467-4EA5-B5B23FE8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43620-916E-3BA1-589E-99B3A966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9CD30-E379-8FF7-BD8C-1D582E4F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7446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64016-F456-A526-922F-8737813C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2D996-51A2-0CD7-0A34-63590FC8B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5CFF8-52DA-8ABB-3D8B-8A19E62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64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366F-38EF-B8C4-8A2C-A8FBE10F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7FB2E-73BD-4421-66CE-EFF7E927E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213B9-481D-1CB4-5B88-C98CCD2CF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21213-8D74-9EE7-CAD4-5A00C4B4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F23E2-504C-4C57-DD86-BAFAD613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EB6F1-933B-CFD1-CF55-54B265BF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986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B09C4-6AC5-F696-29B1-41F3B163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30E0A-0F34-DFCB-3BA7-4315256A6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D2598-30E3-45C2-7E53-54E0DB246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DBC8E-D92C-0191-6355-F2128711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AB4E9-12E9-E264-2E9D-D5CBDC05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DAFEC-97BD-14F8-C576-087DC902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7087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1381-5530-80F4-B317-6FEC6B7B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FAB47-D65A-67C0-FC7C-B88410D16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C0655-1163-0D19-DC7D-414D9DB0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9E556-4304-AB36-79C5-B7D57702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D6BF-06E6-32A7-8CA6-70FF21C4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193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957651-004F-6387-3118-21DAE7A37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48911-683A-101C-BA44-ECB337140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9B1D8-4593-F21F-0DC6-349BCD8A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BFF46-A241-769F-BA24-95BE64A58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E2451-07D2-818C-5528-55843D4B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6131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2220BE-59C2-5D82-1FA5-E4A9C986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65BE7-8BBF-248C-4EBD-8FFCFB887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B2F4E-A4D3-345E-CF33-F2B2E183E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BE082-D730-CD4F-91A2-6895E3984284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44D1-22AE-0F62-16A6-F7BE1D81E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25835-B958-709A-7F93-F717ACBAB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8522B-C963-E845-A481-37A7C378EE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515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core-os/tgoskits/pull/85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core-os/tgoskits/pull/886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9506-7F62-AA41-AB15-2925C7967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784" y="1122363"/>
            <a:ext cx="9844644" cy="2387600"/>
          </a:xfrm>
        </p:spPr>
        <p:txBody>
          <a:bodyPr/>
          <a:lstStyle/>
          <a:p>
            <a:r>
              <a:rPr lang="en-US" dirty="0">
                <a:latin typeface="STZhongsong" panose="02010600040101010101" pitchFamily="2" charset="-122"/>
                <a:ea typeface="STZhongsong" panose="02010600040101010101" pitchFamily="2" charset="-122"/>
              </a:rPr>
              <a:t>O</a:t>
            </a:r>
            <a:r>
              <a:rPr lang="en-CN" dirty="0">
                <a:latin typeface="STZhongsong" panose="02010600040101010101" pitchFamily="2" charset="-122"/>
                <a:ea typeface="STZhongsong" panose="02010600040101010101" pitchFamily="2" charset="-122"/>
              </a:rPr>
              <a:t>S Biglab</a:t>
            </a:r>
            <a:r>
              <a:rPr lang="zh-CN" altLang="en-US" dirty="0">
                <a:latin typeface="STZhongsong" panose="02010600040101010101" pitchFamily="2" charset="-122"/>
                <a:ea typeface="STZhongsong" panose="02010600040101010101" pitchFamily="2" charset="-122"/>
              </a:rPr>
              <a:t>总结报告</a:t>
            </a:r>
            <a:endParaRPr lang="en-CN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D92EC-E8E0-DD46-A23E-BF67808782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>
                <a:latin typeface="KaiTi" panose="02010609060101010101" pitchFamily="49" charset="-122"/>
                <a:ea typeface="KaiTi" panose="02010609060101010101" pitchFamily="49" charset="-122"/>
              </a:rPr>
              <a:t>王鹏杰</a:t>
            </a:r>
          </a:p>
          <a:p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2026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年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月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30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日</a:t>
            </a:r>
            <a:endParaRPr lang="en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528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FF1F-8937-950A-7C89-3ECF891A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BiglabA总结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7AB9F0-945A-B6B8-E907-213DB5AF2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Task1: </a:t>
            </a:r>
            <a:r>
              <a:rPr lang="en-US" altLang="zh-CN" dirty="0"/>
              <a:t>5</a:t>
            </a:r>
            <a:r>
              <a:rPr lang="zh-CN" altLang="en-US" dirty="0"/>
              <a:t>个基础实验</a:t>
            </a:r>
            <a:endParaRPr lang="en-US" altLang="zh-CN" dirty="0"/>
          </a:p>
          <a:p>
            <a:r>
              <a:rPr lang="en-US" dirty="0"/>
              <a:t>Task2</a:t>
            </a:r>
            <a:r>
              <a:rPr lang="en-US" altLang="zh-CN" dirty="0"/>
              <a:t>:</a:t>
            </a:r>
            <a:r>
              <a:rPr lang="zh-CN" altLang="en-US" dirty="0"/>
              <a:t> 个性化实验教程设计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/>
              <a:t>调度算法实验</a:t>
            </a:r>
            <a:endParaRPr lang="en-US" altLang="zh-CN" dirty="0"/>
          </a:p>
          <a:p>
            <a:pPr lvl="1"/>
            <a:r>
              <a:rPr lang="zh-CN" altLang="en-US" dirty="0"/>
              <a:t>同步互斥机制的可观测系统</a:t>
            </a:r>
            <a:endParaRPr lang="en-US" altLang="zh-CN" dirty="0"/>
          </a:p>
          <a:p>
            <a:r>
              <a:rPr lang="en-US" altLang="zh-CN" dirty="0"/>
              <a:t>Task3:</a:t>
            </a:r>
            <a:r>
              <a:rPr lang="zh-CN" altLang="en-US" dirty="0"/>
              <a:t> 扩展实验实践</a:t>
            </a:r>
            <a:endParaRPr lang="en-US" altLang="zh-CN" dirty="0"/>
          </a:p>
          <a:p>
            <a:pPr lvl="1"/>
            <a:r>
              <a:rPr lang="en-US" altLang="zh-CN" dirty="0"/>
              <a:t>(1)</a:t>
            </a:r>
            <a:r>
              <a:rPr lang="zh-CN" altLang="en-US" dirty="0"/>
              <a:t> 七巧板</a:t>
            </a:r>
            <a:r>
              <a:rPr lang="en-US" altLang="zh-CN" dirty="0"/>
              <a:t>;</a:t>
            </a:r>
          </a:p>
          <a:p>
            <a:pPr lvl="1"/>
            <a:r>
              <a:rPr lang="en-US" altLang="zh-CN" dirty="0"/>
              <a:t>(2)</a:t>
            </a:r>
            <a:r>
              <a:rPr lang="zh-CN" altLang="en-US" dirty="0"/>
              <a:t> 双人羽毛球</a:t>
            </a:r>
            <a:r>
              <a:rPr lang="en-US" altLang="zh-CN" dirty="0"/>
              <a:t>;</a:t>
            </a:r>
          </a:p>
          <a:p>
            <a:pPr lvl="1"/>
            <a:r>
              <a:rPr lang="en-US" altLang="zh-CN" dirty="0"/>
              <a:t>(3)</a:t>
            </a:r>
            <a:r>
              <a:rPr lang="zh-CN" altLang="en-US" dirty="0"/>
              <a:t> </a:t>
            </a:r>
            <a:r>
              <a:rPr lang="en-US" altLang="zh-CN" dirty="0"/>
              <a:t>doom</a:t>
            </a:r>
            <a:r>
              <a:rPr lang="zh-CN" altLang="en-US" dirty="0"/>
              <a:t>游戏</a:t>
            </a:r>
            <a:r>
              <a:rPr lang="en-US" altLang="zh-CN" dirty="0"/>
              <a:t>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1272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95F09-E611-2904-5D19-CA144F47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BiglabB Task1-tg-arceos-tutorial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D05AB4-99F5-C797-913D-DBB60F361F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481119"/>
              </p:ext>
            </p:extLst>
          </p:nvPr>
        </p:nvGraphicFramePr>
        <p:xfrm>
          <a:off x="883460" y="1809098"/>
          <a:ext cx="10425080" cy="4377309"/>
        </p:xfrm>
        <a:graphic>
          <a:graphicData uri="http://schemas.openxmlformats.org/drawingml/2006/table">
            <a:tbl>
              <a:tblPr/>
              <a:tblGrid>
                <a:gridCol w="2606270">
                  <a:extLst>
                    <a:ext uri="{9D8B030D-6E8A-4147-A177-3AD203B41FA5}">
                      <a16:colId xmlns:a16="http://schemas.microsoft.com/office/drawing/2014/main" val="1907862954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3728497200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1016592379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359146885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/>
                        <a:t>exercise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N" sz="1800"/>
                        <a:t>层次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/>
                        <a:t>做了什么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/>
                        <a:t>核心训练点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396113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dirty="0">
                          <a:latin typeface="Courier New" panose="02070309020205020404" pitchFamily="49" charset="0"/>
                        </a:rPr>
                        <a:t>exercise-printcolor</a:t>
                      </a:r>
                      <a:endParaRPr lang="en-CN" sz="18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N" sz="1800"/>
                        <a:t>应用/输出层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/>
                        <a:t>在 ArceOS 的串口输出里打印 ANSI 彩色字符串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>
                          <a:latin typeface="Courier New" panose="02070309020205020404" pitchFamily="49" charset="0"/>
                        </a:rPr>
                        <a:t>no_std</a:t>
                      </a:r>
                      <a:r>
                        <a:rPr lang="en-CN" sz="1800"/>
                        <a:t> app、</a:t>
                      </a:r>
                      <a:r>
                        <a:rPr lang="en-CN" sz="1800">
                          <a:latin typeface="Courier New" panose="02070309020205020404" pitchFamily="49" charset="0"/>
                        </a:rPr>
                        <a:t>axstd::println!</a:t>
                      </a:r>
                      <a:r>
                        <a:rPr lang="en-CN" sz="1800"/>
                        <a:t>、ANSI escape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06827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dirty="0">
                          <a:latin typeface="Courier New" panose="02070309020205020404" pitchFamily="49" charset="0"/>
                        </a:rPr>
                        <a:t>exercise-hashmap</a:t>
                      </a:r>
                      <a:endParaRPr lang="en-CN" sz="18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N" sz="1800"/>
                        <a:t>标准库适配层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/>
                        <a:t>让 </a:t>
                      </a:r>
                      <a:r>
                        <a:rPr lang="en-CN" sz="1800">
                          <a:latin typeface="Courier New" panose="02070309020205020404" pitchFamily="49" charset="0"/>
                        </a:rPr>
                        <a:t>axstd::collections::HashMap</a:t>
                      </a:r>
                      <a:r>
                        <a:rPr lang="en-CN" sz="1800"/>
                        <a:t> 可用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>
                          <a:latin typeface="Courier New" panose="02070309020205020404" pitchFamily="49" charset="0"/>
                        </a:rPr>
                        <a:t>no_std + alloc</a:t>
                      </a:r>
                      <a:r>
                        <a:rPr lang="en-CN" sz="1800"/>
                        <a:t> 下怎么补 </a:t>
                      </a:r>
                      <a:r>
                        <a:rPr lang="en-CN" sz="1800">
                          <a:latin typeface="Courier New" panose="02070309020205020404" pitchFamily="49" charset="0"/>
                        </a:rPr>
                        <a:t>HashMap</a:t>
                      </a:r>
                      <a:endParaRPr lang="en-C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54061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>
                          <a:latin typeface="Courier New" panose="02070309020205020404" pitchFamily="49" charset="0"/>
                        </a:rPr>
                        <a:t>exercise-altalloc</a:t>
                      </a:r>
                      <a:endParaRPr lang="en-C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N" sz="1800" dirty="0"/>
                        <a:t>内核内存管理层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dirty="0"/>
                        <a:t>实现一个 bump 风格的内核全局分配器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>
                          <a:latin typeface="Courier New" panose="02070309020205020404" pitchFamily="49" charset="0"/>
                        </a:rPr>
                        <a:t>GlobalAlloc</a:t>
                      </a:r>
                      <a:r>
                        <a:rPr lang="en-CN" sz="1800"/>
                        <a:t> 背后的 byte/page allocator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98566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dirty="0">
                          <a:latin typeface="Courier New" panose="02070309020205020404" pitchFamily="49" charset="0"/>
                        </a:rPr>
                        <a:t>exercise-ramfs-rename</a:t>
                      </a:r>
                      <a:endParaRPr lang="en-CN" sz="18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N" sz="1800"/>
                        <a:t>文件系统层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dirty="0"/>
                        <a:t>在 ramfs 根文件系统中支持 </a:t>
                      </a:r>
                      <a:r>
                        <a:rPr lang="en-CN" sz="1800" dirty="0">
                          <a:latin typeface="Courier New" panose="02070309020205020404" pitchFamily="49" charset="0"/>
                        </a:rPr>
                        <a:t>fs::rename</a:t>
                      </a:r>
                      <a:endParaRPr lang="en-CN" sz="18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/>
                        <a:t>VFS 路径分发、ramfs 目录项重命名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012392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>
                          <a:latin typeface="Courier New" panose="02070309020205020404" pitchFamily="49" charset="0"/>
                        </a:rPr>
                        <a:t>exercise-sysmap</a:t>
                      </a:r>
                      <a:endParaRPr lang="en-C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N" sz="1800" dirty="0"/>
                        <a:t>用户态/系统调用层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dirty="0"/>
                        <a:t>加载用户程序，并实现 </a:t>
                      </a:r>
                      <a:r>
                        <a:rPr lang="en-CN" sz="1800" dirty="0">
                          <a:latin typeface="Courier New" panose="02070309020205020404" pitchFamily="49" charset="0"/>
                        </a:rPr>
                        <a:t>mmap</a:t>
                      </a:r>
                      <a:r>
                        <a:rPr lang="en-CN" sz="1800" dirty="0"/>
                        <a:t> 支持文件映射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dirty="0"/>
                        <a:t>ELF loader、用户地址空间、syscall emulation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26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421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2D90-E6F8-7B18-FF2A-F02FB13A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78"/>
            <a:ext cx="10515600" cy="1325563"/>
          </a:xfrm>
        </p:spPr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EXP1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AI驱动的内核改进框架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F60005F7-B5D5-06E5-1787-43665423F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5712" y="1459513"/>
            <a:ext cx="9127713" cy="513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4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88C20-430D-4A35-68CB-9BFE46D8F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528"/>
            <a:ext cx="10515600" cy="4488874"/>
          </a:xfrm>
        </p:spPr>
        <p:txBody>
          <a:bodyPr>
            <a:normAutofit/>
          </a:bodyPr>
          <a:lstStyle/>
          <a:p>
            <a:r>
              <a:rPr lang="en-CN" dirty="0"/>
              <a:t>Designer: 接受任务阅读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CN" dirty="0"/>
              <a:t>代码库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CN" dirty="0"/>
              <a:t>确认上游重叠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CN" dirty="0"/>
              <a:t>kills: workflow-design, upstream-overlap-check.</a:t>
            </a:r>
          </a:p>
          <a:p>
            <a:r>
              <a:rPr lang="en-CN" dirty="0"/>
              <a:t>Developer: 执行工作流更新状态并记录完成情况Skills: kernel-quality-review, linux-compare (当linux兼容性被要求时</a:t>
            </a:r>
            <a:r>
              <a:rPr lang="en-US" altLang="zh-CN" dirty="0"/>
              <a:t>)</a:t>
            </a:r>
            <a:endParaRPr lang="en-CN" dirty="0"/>
          </a:p>
          <a:p>
            <a:r>
              <a:rPr lang="en-CN" dirty="0"/>
              <a:t>Reviewer: 本地测试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CN" dirty="0"/>
              <a:t>寻找bug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CN" dirty="0"/>
              <a:t>确认和Linux/POSIX/Unix对齐. Skills: multilayer-tes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CN" dirty="0"/>
              <a:t>bug-triage, linux-compare, concurrent-bug-checker, misalignment-checker, cross-syscall-bug-checker, kernel-quality-review, ci-monitor.</a:t>
            </a:r>
          </a:p>
          <a:p>
            <a:r>
              <a:rPr lang="en-CN" dirty="0"/>
              <a:t>Auditor: 审计workflo</a:t>
            </a:r>
            <a:r>
              <a:rPr lang="en-US" dirty="0" err="1"/>
              <a:t>审计PR确认是否实现开始的意图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CN" altLang="zh-CN" dirty="0"/>
              <a:t>S</a:t>
            </a:r>
            <a:r>
              <a:rPr lang="en-CN" dirty="0"/>
              <a:t>kills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CN" dirty="0"/>
              <a:t>audit, kernel-quality-review, bug-triage, upstream-overlap-check.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7042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A714-D2D4-A2F3-6229-DDB2CF5AF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角色分工与协作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93412C2-660F-53C8-BD4C-7D8C5E458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14" y="2001422"/>
            <a:ext cx="11920772" cy="381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9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28597E-33C8-75D6-D6B0-317AC766F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92231" y="490653"/>
            <a:ext cx="8875384" cy="58766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5397C1-D8AB-ADE3-B4C4-892D4E2B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23" y="318525"/>
            <a:ext cx="10515600" cy="1325563"/>
          </a:xfrm>
        </p:spPr>
        <p:txBody>
          <a:bodyPr/>
          <a:lstStyle/>
          <a:p>
            <a:r>
              <a:rPr lang="en-CN" dirty="0"/>
              <a:t>技能分配</a:t>
            </a:r>
          </a:p>
        </p:txBody>
      </p:sp>
    </p:spTree>
    <p:extLst>
      <p:ext uri="{BB962C8B-B14F-4D97-AF65-F5344CB8AC3E}">
        <p14:creationId xmlns:p14="http://schemas.microsoft.com/office/powerpoint/2010/main" val="300527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BA6B-12B5-2A5D-0C68-31273004C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957"/>
            <a:ext cx="10515600" cy="1325563"/>
          </a:xfrm>
        </p:spPr>
        <p:txBody>
          <a:bodyPr/>
          <a:lstStyle/>
          <a:p>
            <a:r>
              <a:rPr lang="en-CN" dirty="0"/>
              <a:t>工作流与系统全景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73A1A3-E351-D20F-669D-A8AF4FCFA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830071"/>
            <a:ext cx="12192001" cy="38139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C56D1E-CF47-63F0-BDC2-A45532170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14" y="1275371"/>
            <a:ext cx="10423293" cy="161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9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1C681-F6FF-0255-3C50-7755798F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Demo–用Harness重新解决EXP2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.1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9C194-146A-B097-956A-F7024195C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015" y="1690688"/>
            <a:ext cx="10762785" cy="4486275"/>
          </a:xfrm>
        </p:spPr>
        <p:txBody>
          <a:bodyPr/>
          <a:lstStyle/>
          <a:p>
            <a:r>
              <a:rPr lang="en-CN" dirty="0"/>
              <a:t>模型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glm5.1 &amp; deepseek-v4;</a:t>
            </a:r>
          </a:p>
          <a:p>
            <a:r>
              <a:rPr lang="en-US" dirty="0" err="1"/>
              <a:t>情境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 err="1"/>
              <a:t>为execve函数提供多线程支持</a:t>
            </a:r>
            <a:r>
              <a:rPr lang="en-US" dirty="0"/>
              <a:t>;</a:t>
            </a:r>
            <a:endParaRPr lang="en-US" altLang="zh-CN" dirty="0"/>
          </a:p>
          <a:p>
            <a:r>
              <a:rPr lang="en-US" dirty="0"/>
              <a:t>Budget: Reviewer审查</a:t>
            </a:r>
            <a:r>
              <a:rPr lang="en-US" altLang="zh-CN" dirty="0"/>
              <a:t>4</a:t>
            </a:r>
            <a:r>
              <a:rPr lang="en-US" dirty="0"/>
              <a:t>轮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 err="1"/>
              <a:t>Auditor审查两轮</a:t>
            </a:r>
            <a:r>
              <a:rPr lang="en-US" dirty="0"/>
              <a:t>.</a:t>
            </a:r>
            <a:r>
              <a:rPr lang="zh-CN" altLang="en-US" dirty="0"/>
              <a:t> 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B9B3E-BEA2-94EA-6B06-C849F0DCA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500" y="3933825"/>
            <a:ext cx="5195707" cy="2583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6D976D-449E-1AB0-1600-A35D4004E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2" y="3467612"/>
            <a:ext cx="5678187" cy="30252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07F4FB-EE9A-26C8-4A02-E403AE455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644" y="1798314"/>
            <a:ext cx="4471356" cy="387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1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8E58-FC11-AD06-8EC7-50A0FE62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41"/>
          </a:xfrm>
        </p:spPr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EXP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内核功能支持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E284D-333A-6D1A-C571-20C33480E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166"/>
            <a:ext cx="12192000" cy="4668797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CN" dirty="0">
                <a:ea typeface="STHeiti" panose="02010600040101010101" pitchFamily="2" charset="-122"/>
              </a:rPr>
              <a:t>支持多线程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CN" dirty="0">
                <a:ea typeface="STHeiti" panose="02010600040101010101" pitchFamily="2" charset="-122"/>
              </a:rPr>
              <a:t>execve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US" altLang="zh-CN" dirty="0">
                <a:ea typeface="STHeiti" panose="02010600040101010101" pitchFamily="2" charset="-122"/>
              </a:rPr>
              <a:t>[</a:t>
            </a:r>
            <a:r>
              <a:rPr lang="en-US" altLang="zh-CN" dirty="0">
                <a:solidFill>
                  <a:srgbClr val="0070C0"/>
                </a:solidFill>
                <a:ea typeface="STHeiti" panose="02010600040101010101" pitchFamily="2" charset="-122"/>
              </a:rPr>
              <a:t>#273</a:t>
            </a:r>
            <a:r>
              <a:rPr lang="en-US" altLang="zh-CN" dirty="0">
                <a:ea typeface="STHeiti" panose="02010600040101010101" pitchFamily="2" charset="-122"/>
              </a:rPr>
              <a:t>]</a:t>
            </a:r>
            <a:endParaRPr lang="en-CN" dirty="0">
              <a:ea typeface="STHeiti" panose="02010600040101010101" pitchFamily="2" charset="-122"/>
            </a:endParaRPr>
          </a:p>
          <a:p>
            <a:pPr marL="0" indent="0">
              <a:buNone/>
            </a:pPr>
            <a:r>
              <a:rPr lang="en-CN" b="1" dirty="0">
                <a:ea typeface="STHeiti" panose="02010600040101010101" pitchFamily="2" charset="-122"/>
              </a:rPr>
              <a:t>问题</a:t>
            </a:r>
            <a:r>
              <a:rPr lang="en-US" altLang="zh-CN" dirty="0">
                <a:ea typeface="STHeiti" panose="02010600040101010101" pitchFamily="2" charset="-122"/>
              </a:rPr>
              <a:t>:</a:t>
            </a:r>
            <a:r>
              <a:rPr lang="ja-JP" altLang="en-US">
                <a:ea typeface="STHeiti" panose="02010600040101010101" pitchFamily="2" charset="-122"/>
              </a:rPr>
              <a:t>此前 </a:t>
            </a:r>
            <a:r>
              <a:rPr lang="en-US" altLang="zh-CN" dirty="0" err="1">
                <a:ea typeface="STHeiti" panose="02010600040101010101" pitchFamily="2" charset="-122"/>
              </a:rPr>
              <a:t>sys_execve</a:t>
            </a:r>
            <a:r>
              <a:rPr lang="en-US" altLang="zh-CN" dirty="0">
                <a:ea typeface="STHeiti" panose="02010600040101010101" pitchFamily="2" charset="-122"/>
              </a:rPr>
              <a:t> </a:t>
            </a:r>
            <a:r>
              <a:rPr lang="ja-JP" altLang="en-US">
                <a:ea typeface="STHeiti" panose="02010600040101010101" pitchFamily="2" charset="-122"/>
              </a:rPr>
              <a:t>在调用进程有多个线程时会直接返回 </a:t>
            </a:r>
            <a:r>
              <a:rPr lang="en-US" altLang="zh-CN" dirty="0">
                <a:ea typeface="STHeiti" panose="02010600040101010101" pitchFamily="2" charset="-122"/>
              </a:rPr>
              <a:t>EWOULDBLOCK</a:t>
            </a:r>
            <a:endParaRPr lang="en-CN" dirty="0">
              <a:ea typeface="STHeiti" panose="02010600040101010101" pitchFamily="2" charset="-122"/>
            </a:endParaRPr>
          </a:p>
          <a:p>
            <a:pPr marL="0" indent="0">
              <a:buNone/>
            </a:pPr>
            <a:endParaRPr lang="en-CN" dirty="0">
              <a:ea typeface="STHeiti" panose="02010600040101010101" pitchFamily="2" charset="-122"/>
            </a:endParaRPr>
          </a:p>
          <a:p>
            <a:pPr marL="0" indent="0">
              <a:buNone/>
            </a:pPr>
            <a:r>
              <a:rPr lang="en-CN" b="1" dirty="0">
                <a:ea typeface="STHeiti" panose="02010600040101010101" pitchFamily="2" charset="-122"/>
              </a:rPr>
              <a:t>实现</a:t>
            </a:r>
            <a:r>
              <a:rPr lang="en-US" altLang="zh-CN" dirty="0">
                <a:ea typeface="STHeiti" panose="02010600040101010101" pitchFamily="2" charset="-122"/>
              </a:rPr>
              <a:t>:</a:t>
            </a:r>
            <a:r>
              <a:rPr lang="zh-CN" altLang="en-US" dirty="0">
                <a:ea typeface="STHeiti" panose="02010600040101010101" pitchFamily="2" charset="-122"/>
              </a:rPr>
              <a:t> 分两阶段处理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第一阶段是可失败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第二阶段将是不可逆的</a:t>
            </a:r>
            <a:r>
              <a:rPr lang="en-US" altLang="zh-CN" dirty="0">
                <a:ea typeface="STHeiti" panose="02010600040101010101" pitchFamily="2" charset="-122"/>
              </a:rPr>
              <a:t>.</a:t>
            </a:r>
            <a:r>
              <a:rPr lang="zh-CN" altLang="en-US" dirty="0">
                <a:ea typeface="STHeiti" panose="02010600040101010101" pitchFamily="2" charset="-122"/>
              </a:rPr>
              <a:t> 进程需要杀掉所有</a:t>
            </a:r>
            <a:r>
              <a:rPr lang="en-US" altLang="zh-CN" dirty="0">
                <a:ea typeface="STHeiti" panose="02010600040101010101" pitchFamily="2" charset="-122"/>
              </a:rPr>
              <a:t>sibling</a:t>
            </a:r>
            <a:r>
              <a:rPr lang="zh-CN" altLang="en-US" dirty="0">
                <a:ea typeface="STHeiti" panose="02010600040101010101" pitchFamily="2" charset="-122"/>
              </a:rPr>
              <a:t>进程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然后提交新地址空间</a:t>
            </a:r>
            <a:r>
              <a:rPr lang="en-US" altLang="zh-CN" dirty="0">
                <a:ea typeface="STHeiti" panose="02010600040101010101" pitchFamily="2" charset="-122"/>
              </a:rPr>
              <a:t>.</a:t>
            </a:r>
            <a:r>
              <a:rPr lang="zh-CN" altLang="en-US" dirty="0">
                <a:ea typeface="STHeiti" panose="02010600040101010101" pitchFamily="2" charset="-122"/>
              </a:rPr>
              <a:t> 需要注意</a:t>
            </a:r>
            <a:r>
              <a:rPr lang="en-US" altLang="zh-CN" dirty="0">
                <a:ea typeface="STHeiti" panose="02010600040101010101" pitchFamily="2" charset="-122"/>
              </a:rPr>
              <a:t>: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US" altLang="zh-CN" dirty="0">
                <a:ea typeface="STHeiti" panose="02010600040101010101" pitchFamily="2" charset="-122"/>
              </a:rPr>
              <a:t>(1)</a:t>
            </a:r>
            <a:r>
              <a:rPr lang="zh-CN" altLang="en-US" dirty="0">
                <a:ea typeface="STHeiti" panose="02010600040101010101" pitchFamily="2" charset="-122"/>
              </a:rPr>
              <a:t> 不能提前杀</a:t>
            </a:r>
            <a:r>
              <a:rPr lang="en-US" altLang="zh-CN" dirty="0">
                <a:ea typeface="STHeiti" panose="02010600040101010101" pitchFamily="2" charset="-122"/>
              </a:rPr>
              <a:t>sibling,</a:t>
            </a:r>
            <a:r>
              <a:rPr lang="zh-CN" altLang="en-US" dirty="0">
                <a:ea typeface="STHeiti" panose="02010600040101010101" pitchFamily="2" charset="-122"/>
              </a:rPr>
              <a:t> 否则不可逆</a:t>
            </a:r>
            <a:r>
              <a:rPr lang="en-US" altLang="zh-CN" dirty="0">
                <a:ea typeface="STHeiti" panose="02010600040101010101" pitchFamily="2" charset="-122"/>
              </a:rPr>
              <a:t>;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US" altLang="zh-CN" dirty="0">
                <a:ea typeface="STHeiti" panose="02010600040101010101" pitchFamily="2" charset="-122"/>
              </a:rPr>
              <a:t>(2)</a:t>
            </a:r>
            <a:r>
              <a:rPr lang="zh-CN" altLang="en-US" dirty="0">
                <a:ea typeface="STHeiti" panose="02010600040101010101" pitchFamily="2" charset="-122"/>
              </a:rPr>
              <a:t> 如果是非</a:t>
            </a:r>
            <a:r>
              <a:rPr lang="en-US" altLang="zh-CN" dirty="0">
                <a:ea typeface="STHeiti" panose="02010600040101010101" pitchFamily="2" charset="-122"/>
              </a:rPr>
              <a:t>lead</a:t>
            </a:r>
            <a:r>
              <a:rPr lang="zh-CN" altLang="en-US" dirty="0">
                <a:ea typeface="STHeiti" panose="02010600040101010101" pitchFamily="2" charset="-122"/>
              </a:rPr>
              <a:t>的</a:t>
            </a:r>
            <a:r>
              <a:rPr lang="en-US" altLang="zh-CN" dirty="0">
                <a:ea typeface="STHeiti" panose="02010600040101010101" pitchFamily="2" charset="-122"/>
              </a:rPr>
              <a:t>thread</a:t>
            </a:r>
            <a:r>
              <a:rPr lang="zh-CN" altLang="en-US" dirty="0">
                <a:ea typeface="STHeiti" panose="02010600040101010101" pitchFamily="2" charset="-122"/>
              </a:rPr>
              <a:t>做</a:t>
            </a:r>
            <a:r>
              <a:rPr lang="en-US" altLang="zh-CN" dirty="0" err="1">
                <a:ea typeface="STHeiti" panose="02010600040101010101" pitchFamily="2" charset="-122"/>
              </a:rPr>
              <a:t>execve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需要对齐</a:t>
            </a:r>
            <a:r>
              <a:rPr lang="en-US" altLang="zh-CN" dirty="0" err="1">
                <a:ea typeface="STHeiti" panose="02010600040101010101" pitchFamily="2" charset="-122"/>
              </a:rPr>
              <a:t>tid</a:t>
            </a:r>
            <a:r>
              <a:rPr lang="zh-CN" altLang="en-US" dirty="0">
                <a:ea typeface="STHeiti" panose="02010600040101010101" pitchFamily="2" charset="-122"/>
              </a:rPr>
              <a:t>和</a:t>
            </a:r>
            <a:r>
              <a:rPr lang="en-US" altLang="zh-CN" dirty="0" err="1">
                <a:ea typeface="STHeiti" panose="02010600040101010101" pitchFamily="2" charset="-122"/>
              </a:rPr>
              <a:t>pid</a:t>
            </a:r>
            <a:r>
              <a:rPr lang="en-US" altLang="zh-CN" dirty="0">
                <a:ea typeface="STHeiti" panose="02010600040101010101" pitchFamily="2" charset="-122"/>
              </a:rPr>
              <a:t>;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US" altLang="zh-CN" dirty="0">
                <a:ea typeface="STHeiti" panose="02010600040101010101" pitchFamily="2" charset="-122"/>
              </a:rPr>
              <a:t>(3)</a:t>
            </a:r>
            <a:r>
              <a:rPr lang="zh-CN" altLang="en-US" dirty="0">
                <a:ea typeface="STHeiti" panose="02010600040101010101" pitchFamily="2" charset="-122"/>
              </a:rPr>
              <a:t> 需要处理外部</a:t>
            </a:r>
            <a:r>
              <a:rPr lang="en-US" altLang="zh-CN" dirty="0" err="1">
                <a:ea typeface="STHeiti" panose="02010600040101010101" pitchFamily="2" charset="-122"/>
              </a:rPr>
              <a:t>sys_call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比如</a:t>
            </a:r>
            <a:r>
              <a:rPr lang="en-US" altLang="zh-CN" dirty="0" err="1">
                <a:ea typeface="STHeiti" panose="02010600040101010101" pitchFamily="2" charset="-122"/>
              </a:rPr>
              <a:t>vfork</a:t>
            </a:r>
            <a:r>
              <a:rPr lang="en-US" altLang="zh-CN" dirty="0">
                <a:ea typeface="STHeiti" panose="0201060004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4479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12F08-C69D-F11D-444B-4EF167804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382"/>
            <a:ext cx="10515600" cy="5927581"/>
          </a:xfrm>
        </p:spPr>
        <p:txBody>
          <a:bodyPr/>
          <a:lstStyle/>
          <a:p>
            <a:pPr marL="0" indent="0">
              <a:buNone/>
            </a:pPr>
            <a:r>
              <a:rPr lang="en-CN" dirty="0">
                <a:ea typeface="STHeiti" panose="02010600040101010101" pitchFamily="2" charset="-122"/>
              </a:rPr>
              <a:t>第一次尝试</a:t>
            </a:r>
            <a:r>
              <a:rPr lang="en-US" altLang="zh-CN" dirty="0">
                <a:ea typeface="STHeiti" panose="02010600040101010101" pitchFamily="2" charset="-122"/>
              </a:rPr>
              <a:t>:</a:t>
            </a:r>
            <a:endParaRPr lang="en-CN" dirty="0">
              <a:ea typeface="STHeiti" panose="02010600040101010101" pitchFamily="2" charset="-122"/>
            </a:endParaRPr>
          </a:p>
          <a:p>
            <a:pPr marL="0" indent="0">
              <a:buNone/>
            </a:pPr>
            <a:r>
              <a:rPr lang="en-CN" dirty="0">
                <a:ea typeface="STHeiti" panose="02010600040101010101" pitchFamily="2" charset="-122"/>
              </a:rPr>
              <a:t>Reviewer</a:t>
            </a:r>
            <a:r>
              <a:rPr lang="zh-CN" altLang="en-US" dirty="0">
                <a:ea typeface="STHeiti" panose="02010600040101010101" pitchFamily="2" charset="-122"/>
              </a:rPr>
              <a:t> 周睿老师指出了很多问题</a:t>
            </a:r>
            <a:r>
              <a:rPr lang="en-US" altLang="zh-CN" dirty="0">
                <a:ea typeface="STHeiti" panose="02010600040101010101" pitchFamily="2" charset="-122"/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altLang="zh-CN" dirty="0" err="1">
                <a:ea typeface="STHeiti" panose="02010600040101010101" pitchFamily="2" charset="-122"/>
              </a:rPr>
              <a:t>try_lock</a:t>
            </a:r>
            <a:r>
              <a:rPr lang="zh-CN" altLang="en-US" dirty="0">
                <a:ea typeface="STHeiti" panose="02010600040101010101" pitchFamily="2" charset="-122"/>
              </a:rPr>
              <a:t>的并发语义不够细</a:t>
            </a:r>
            <a:r>
              <a:rPr lang="en-US" altLang="zh-CN" dirty="0">
                <a:ea typeface="STHeiti" panose="02010600040101010101" pitchFamily="2" charset="-122"/>
              </a:rPr>
              <a:t>;</a:t>
            </a:r>
            <a:endParaRPr lang="en-CN" altLang="zh-CN" dirty="0">
              <a:ea typeface="STHeiti" panose="02010600040101010101" pitchFamily="2" charset="-122"/>
            </a:endParaRPr>
          </a:p>
          <a:p>
            <a:pPr marL="514350" indent="-514350">
              <a:buAutoNum type="arabicParenBoth"/>
            </a:pPr>
            <a:r>
              <a:rPr lang="en-US" altLang="zh-CN" dirty="0">
                <a:ea typeface="STHeiti" panose="02010600040101010101" pitchFamily="2" charset="-122"/>
              </a:rPr>
              <a:t>CLOEXEC</a:t>
            </a:r>
            <a:r>
              <a:rPr lang="zh-CN" altLang="en-US" dirty="0">
                <a:ea typeface="STHeiti" panose="02010600040101010101" pitchFamily="2" charset="-122"/>
              </a:rPr>
              <a:t>的快照时机</a:t>
            </a:r>
            <a:r>
              <a:rPr lang="en-US" altLang="zh-CN" dirty="0">
                <a:ea typeface="STHeiti" panose="02010600040101010101" pitchFamily="2" charset="-122"/>
              </a:rPr>
              <a:t>;</a:t>
            </a:r>
          </a:p>
          <a:p>
            <a:pPr marL="514350" indent="-514350">
              <a:buAutoNum type="arabicParenBoth"/>
            </a:pPr>
            <a:r>
              <a:rPr lang="en-US" altLang="zh-CN" dirty="0" err="1">
                <a:ea typeface="STHeiti" panose="02010600040101010101" pitchFamily="2" charset="-122"/>
              </a:rPr>
              <a:t>Vfork</a:t>
            </a:r>
            <a:r>
              <a:rPr lang="zh-CN" altLang="en-US" dirty="0">
                <a:ea typeface="STHeiti" panose="02010600040101010101" pitchFamily="2" charset="-122"/>
              </a:rPr>
              <a:t>的睡眠要能够被</a:t>
            </a:r>
            <a:r>
              <a:rPr lang="en-US" altLang="zh-CN" dirty="0">
                <a:ea typeface="STHeiti" panose="02010600040101010101" pitchFamily="2" charset="-122"/>
              </a:rPr>
              <a:t>zap</a:t>
            </a:r>
            <a:r>
              <a:rPr lang="zh-CN" altLang="en-US" dirty="0">
                <a:ea typeface="STHeiti" panose="02010600040101010101" pitchFamily="2" charset="-122"/>
              </a:rPr>
              <a:t>打断</a:t>
            </a:r>
            <a:r>
              <a:rPr lang="en-US" altLang="zh-CN" dirty="0">
                <a:ea typeface="STHeiti" panose="0201060004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ea typeface="STHeiti" panose="02010600040101010101" pitchFamily="2" charset="-122"/>
              </a:rPr>
              <a:t>etc.</a:t>
            </a:r>
          </a:p>
          <a:p>
            <a:pPr marL="514350" indent="-514350">
              <a:buAutoNum type="arabicParenBoth"/>
            </a:pPr>
            <a:endParaRPr lang="en-US" altLang="zh-CN" dirty="0">
              <a:ea typeface="STHeiti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ea typeface="STHeiti" panose="02010600040101010101" pitchFamily="2" charset="-122"/>
              </a:rPr>
              <a:t>总结问题</a:t>
            </a:r>
            <a:r>
              <a:rPr lang="en-US" altLang="zh-CN" dirty="0">
                <a:ea typeface="STHeiti" panose="02010600040101010101" pitchFamily="2" charset="-122"/>
              </a:rPr>
              <a:t>:</a:t>
            </a:r>
          </a:p>
          <a:p>
            <a:pPr marL="514350" indent="-514350">
              <a:buAutoNum type="arabicParenBoth"/>
            </a:pPr>
            <a:r>
              <a:rPr lang="zh-CN" altLang="en-US" dirty="0">
                <a:ea typeface="STHeiti" panose="02010600040101010101" pitchFamily="2" charset="-122"/>
              </a:rPr>
              <a:t>并发</a:t>
            </a:r>
            <a:r>
              <a:rPr lang="en-US" altLang="zh-CN" dirty="0">
                <a:ea typeface="STHeiti" panose="02010600040101010101" pitchFamily="2" charset="-122"/>
              </a:rPr>
              <a:t>bug;</a:t>
            </a:r>
          </a:p>
          <a:p>
            <a:pPr marL="514350" indent="-514350">
              <a:buAutoNum type="arabicParenBoth"/>
            </a:pPr>
            <a:r>
              <a:rPr lang="zh-CN" altLang="en-US" dirty="0">
                <a:ea typeface="STHeiti" panose="02010600040101010101" pitchFamily="2" charset="-122"/>
              </a:rPr>
              <a:t>跨</a:t>
            </a:r>
            <a:r>
              <a:rPr lang="en-US" altLang="zh-CN" dirty="0" err="1">
                <a:ea typeface="STHeiti" panose="02010600040101010101" pitchFamily="2" charset="-122"/>
              </a:rPr>
              <a:t>syscall</a:t>
            </a:r>
            <a:r>
              <a:rPr lang="en-US" altLang="zh-CN" dirty="0">
                <a:ea typeface="STHeiti" panose="02010600040101010101" pitchFamily="2" charset="-122"/>
              </a:rPr>
              <a:t>.</a:t>
            </a:r>
            <a:endParaRPr lang="zh-CN" altLang="en-US" dirty="0">
              <a:ea typeface="STHe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3711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4A410-2525-75AF-934C-0EB2103B9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758"/>
            <a:ext cx="10515600" cy="5868205"/>
          </a:xfrm>
        </p:spPr>
        <p:txBody>
          <a:bodyPr/>
          <a:lstStyle/>
          <a:p>
            <a:r>
              <a:rPr lang="en-CN" dirty="0"/>
              <a:t>Harness Demo的完成情况</a:t>
            </a:r>
          </a:p>
          <a:p>
            <a:r>
              <a:rPr lang="en-CN" dirty="0"/>
              <a:t>✅ 自己解决的</a:t>
            </a:r>
            <a:r>
              <a:rPr lang="ja-JP" altLang="en-US"/>
              <a:t>问题</a:t>
            </a:r>
            <a:r>
              <a:rPr lang="en-US" altLang="zh-CN" dirty="0"/>
              <a:t>:</a:t>
            </a:r>
          </a:p>
          <a:p>
            <a:pPr lvl="1"/>
            <a:r>
              <a:rPr lang="en-CN" dirty="0"/>
              <a:t>在可失败阶段破坏线程组</a:t>
            </a:r>
          </a:p>
          <a:p>
            <a:pPr lvl="1"/>
            <a:r>
              <a:rPr lang="en-US" dirty="0"/>
              <a:t>e</a:t>
            </a:r>
            <a:r>
              <a:rPr lang="en-CN" dirty="0"/>
              <a:t>xecve并发的阻塞语义更细粒度</a:t>
            </a:r>
          </a:p>
          <a:p>
            <a:pPr lvl="1"/>
            <a:r>
              <a:rPr lang="en-CN" dirty="0"/>
              <a:t>CLOEXEC的竞态条件</a:t>
            </a:r>
          </a:p>
          <a:p>
            <a:pPr lvl="1"/>
            <a:r>
              <a:rPr lang="en-US" altLang="zh-CN" dirty="0" err="1"/>
              <a:t>vfork</a:t>
            </a:r>
            <a:r>
              <a:rPr lang="zh-CN" altLang="en-US" dirty="0"/>
              <a:t>相关阻塞</a:t>
            </a:r>
            <a:endParaRPr lang="en-US" altLang="zh-CN" dirty="0"/>
          </a:p>
          <a:p>
            <a:pPr lvl="1"/>
            <a:r>
              <a:rPr lang="en-US" altLang="zh-CN" dirty="0" err="1"/>
              <a:t>execve</a:t>
            </a:r>
            <a:r>
              <a:rPr lang="en-US" altLang="zh-CN" dirty="0"/>
              <a:t>(path, NULL, NULL)</a:t>
            </a:r>
            <a:r>
              <a:rPr lang="zh-CN" altLang="en-US" dirty="0"/>
              <a:t>能够对齐</a:t>
            </a:r>
            <a:r>
              <a:rPr lang="en-US" altLang="zh-CN" dirty="0" err="1"/>
              <a:t>linux</a:t>
            </a:r>
            <a:r>
              <a:rPr lang="zh-CN" altLang="en-US" dirty="0"/>
              <a:t>标准</a:t>
            </a:r>
            <a:endParaRPr lang="en-US" altLang="zh-CN" dirty="0"/>
          </a:p>
          <a:p>
            <a:pPr lvl="1"/>
            <a:r>
              <a:rPr lang="zh-CN" altLang="en-US" dirty="0"/>
              <a:t>多线程</a:t>
            </a:r>
            <a:r>
              <a:rPr lang="en-US" altLang="zh-CN" dirty="0" err="1"/>
              <a:t>execve</a:t>
            </a:r>
            <a:r>
              <a:rPr lang="zh-CN" altLang="en-US" dirty="0"/>
              <a:t>成功回归测试充分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CN" dirty="0"/>
              <a:t>❌依然没有解决好的问题</a:t>
            </a:r>
          </a:p>
          <a:p>
            <a:pPr lvl="1"/>
            <a:r>
              <a:rPr lang="en-US" dirty="0"/>
              <a:t>e</a:t>
            </a:r>
            <a:r>
              <a:rPr lang="en-CN" dirty="0"/>
              <a:t>xecve后没有do_threa</a:t>
            </a:r>
            <a:r>
              <a:rPr lang="en-US" dirty="0" err="1"/>
              <a:t>因此不恒定满足gettid</a:t>
            </a:r>
            <a:r>
              <a:rPr lang="en-US" dirty="0"/>
              <a:t>()==</a:t>
            </a:r>
            <a:r>
              <a:rPr lang="en-US" dirty="0" err="1"/>
              <a:t>getpid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31665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5722-B12D-DB3D-B62D-A1CA843D0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664"/>
            <a:ext cx="10515600" cy="63921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ea typeface="STHeiti" panose="02010600040101010101" pitchFamily="2" charset="-122"/>
              </a:rPr>
              <a:t>2.</a:t>
            </a:r>
            <a:r>
              <a:rPr lang="zh-CN" altLang="en-US" dirty="0">
                <a:ea typeface="STHeiti" panose="02010600040101010101" pitchFamily="2" charset="-122"/>
              </a:rPr>
              <a:t> 支持文件锁 </a:t>
            </a:r>
            <a:r>
              <a:rPr lang="en-US" altLang="zh-CN" dirty="0">
                <a:ea typeface="STHeiti" panose="02010600040101010101" pitchFamily="2" charset="-122"/>
              </a:rPr>
              <a:t>[</a:t>
            </a:r>
            <a:r>
              <a:rPr lang="en-US" altLang="zh-CN" dirty="0">
                <a:solidFill>
                  <a:srgbClr val="0070C0"/>
                </a:solidFill>
                <a:ea typeface="STHeiti" panose="02010600040101010101" pitchFamily="2" charset="-122"/>
              </a:rPr>
              <a:t>#472</a:t>
            </a:r>
            <a:r>
              <a:rPr lang="en-US" altLang="zh-CN" dirty="0">
                <a:ea typeface="STHeiti" panose="02010600040101010101" pitchFamily="2" charset="-122"/>
              </a:rPr>
              <a:t>]</a:t>
            </a:r>
          </a:p>
          <a:p>
            <a:pPr marL="0" indent="0">
              <a:buNone/>
            </a:pPr>
            <a:r>
              <a:rPr lang="en-US" b="1" dirty="0" err="1">
                <a:ea typeface="STHeiti" panose="02010600040101010101" pitchFamily="2" charset="-122"/>
              </a:rPr>
              <a:t>问题</a:t>
            </a:r>
            <a:r>
              <a:rPr lang="en-US" altLang="zh-CN" b="1" dirty="0">
                <a:ea typeface="STHeiti" panose="02010600040101010101" pitchFamily="2" charset="-122"/>
              </a:rPr>
              <a:t>:</a:t>
            </a:r>
            <a:r>
              <a:rPr lang="zh-CN" altLang="en-US" b="1" dirty="0">
                <a:ea typeface="STHeiti" panose="02010600040101010101" pitchFamily="2" charset="-122"/>
              </a:rPr>
              <a:t> </a:t>
            </a:r>
            <a:r>
              <a:rPr lang="en-US" altLang="zh-CN" dirty="0" err="1">
                <a:ea typeface="STHeiti" panose="02010600040101010101" pitchFamily="2" charset="-122"/>
              </a:rPr>
              <a:t>sys_fcntl</a:t>
            </a:r>
            <a:r>
              <a:rPr lang="zh-CN" altLang="en-US" dirty="0">
                <a:ea typeface="STHeiti" panose="02010600040101010101" pitchFamily="2" charset="-122"/>
              </a:rPr>
              <a:t>只返回成功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不实际加锁</a:t>
            </a:r>
            <a:r>
              <a:rPr lang="en-US" altLang="zh-CN" dirty="0">
                <a:ea typeface="STHeiti" panose="02010600040101010101" pitchFamily="2" charset="-122"/>
              </a:rPr>
              <a:t>;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US" altLang="zh-CN" dirty="0" err="1">
                <a:ea typeface="STHeiti" panose="02010600040101010101" pitchFamily="2" charset="-122"/>
              </a:rPr>
              <a:t>sys_flock</a:t>
            </a:r>
            <a:r>
              <a:rPr lang="zh-CN" altLang="en-US" dirty="0">
                <a:ea typeface="STHeiti" panose="02010600040101010101" pitchFamily="2" charset="-122"/>
              </a:rPr>
              <a:t>也是空实现</a:t>
            </a:r>
            <a:endParaRPr lang="en-US" altLang="zh-CN" dirty="0">
              <a:ea typeface="STHeiti" panose="02010600040101010101" pitchFamily="2" charset="-122"/>
            </a:endParaRPr>
          </a:p>
          <a:p>
            <a:pPr marL="0" indent="0">
              <a:buNone/>
            </a:pPr>
            <a:endParaRPr lang="en-US" b="1" dirty="0">
              <a:ea typeface="STHeiti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b="1" dirty="0">
                <a:ea typeface="STHeiti" panose="02010600040101010101" pitchFamily="2" charset="-122"/>
              </a:rPr>
              <a:t>实现</a:t>
            </a:r>
            <a:r>
              <a:rPr lang="en-US" altLang="zh-CN" b="1" dirty="0">
                <a:ea typeface="STHeiti" panose="02010600040101010101" pitchFamily="2" charset="-122"/>
              </a:rPr>
              <a:t>:</a:t>
            </a:r>
            <a:r>
              <a:rPr lang="zh-CN" altLang="en-US" b="1" dirty="0">
                <a:ea typeface="STHeiti" panose="02010600040101010101" pitchFamily="2" charset="-122"/>
              </a:rPr>
              <a:t> </a:t>
            </a:r>
            <a:r>
              <a:rPr lang="en-CN" dirty="0">
                <a:ea typeface="STHeiti" panose="02010600040101010101" pitchFamily="2" charset="-122"/>
              </a:rPr>
              <a:t>新增 lock.rs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CN" dirty="0">
                <a:ea typeface="STHeiti" panose="02010600040101010101" pitchFamily="2" charset="-122"/>
              </a:rPr>
              <a:t>作为advisory lock子系统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CN" dirty="0">
                <a:ea typeface="STHeiti" panose="02010600040101010101" pitchFamily="2" charset="-122"/>
              </a:rPr>
              <a:t>维护 FCNTL_LOCKS 和 FLOCK_LOCKS 两类锁表, 均以 (device, inode)</a:t>
            </a:r>
            <a:r>
              <a:rPr lang="zh-CN" altLang="en-US" dirty="0">
                <a:ea typeface="STHeiti" panose="02010600040101010101" pitchFamily="2" charset="-122"/>
              </a:rPr>
              <a:t> 为</a:t>
            </a:r>
            <a:r>
              <a:rPr lang="en-US" altLang="zh-CN" dirty="0">
                <a:ea typeface="STHeiti" panose="02010600040101010101" pitchFamily="2" charset="-122"/>
              </a:rPr>
              <a:t>key,</a:t>
            </a:r>
            <a:r>
              <a:rPr lang="zh-CN" altLang="en-US" dirty="0">
                <a:ea typeface="STHeiti" panose="02010600040101010101" pitchFamily="2" charset="-122"/>
              </a:rPr>
              <a:t> 两张表互不影响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拥有者分别是进程和</a:t>
            </a:r>
            <a:r>
              <a:rPr lang="en-US" altLang="zh-CN" dirty="0">
                <a:ea typeface="STHeiti" panose="02010600040101010101" pitchFamily="2" charset="-122"/>
              </a:rPr>
              <a:t>OFD.</a:t>
            </a:r>
          </a:p>
          <a:p>
            <a:pPr marL="0" indent="0">
              <a:buNone/>
            </a:pPr>
            <a:endParaRPr lang="en-US" dirty="0">
              <a:ea typeface="STHeiti" panose="02010600040101010101" pitchFamily="2" charset="-122"/>
            </a:endParaRPr>
          </a:p>
          <a:p>
            <a:pPr marL="0" indent="0">
              <a:buNone/>
            </a:pPr>
            <a:r>
              <a:rPr lang="en-CN" dirty="0">
                <a:ea typeface="STHeiti" panose="02010600040101010101" pitchFamily="2" charset="-122"/>
              </a:rPr>
              <a:t>Reviewer</a:t>
            </a:r>
            <a:r>
              <a:rPr lang="zh-CN" altLang="en-US" dirty="0">
                <a:ea typeface="STHeiti" panose="02010600040101010101" pitchFamily="2" charset="-122"/>
              </a:rPr>
              <a:t>周睿老师指出的问题</a:t>
            </a:r>
            <a:r>
              <a:rPr lang="en-US" altLang="zh-CN" dirty="0">
                <a:ea typeface="STHeiti" panose="0201060004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dirty="0">
                <a:ea typeface="STHeiti" panose="02010600040101010101" pitchFamily="2" charset="-122"/>
              </a:rPr>
              <a:t>(1)</a:t>
            </a:r>
            <a:r>
              <a:rPr lang="zh-CN" altLang="en-US" dirty="0">
                <a:ea typeface="STHeiti" panose="02010600040101010101" pitchFamily="2" charset="-122"/>
              </a:rPr>
              <a:t> 和</a:t>
            </a:r>
            <a:r>
              <a:rPr lang="en-US" altLang="zh-CN" dirty="0" err="1">
                <a:ea typeface="STHeiti" panose="02010600040101010101" pitchFamily="2" charset="-122"/>
              </a:rPr>
              <a:t>linux</a:t>
            </a:r>
            <a:r>
              <a:rPr lang="en-US" altLang="zh-CN" dirty="0">
                <a:ea typeface="STHeiti" panose="02010600040101010101" pitchFamily="2" charset="-122"/>
              </a:rPr>
              <a:t>/</a:t>
            </a:r>
            <a:r>
              <a:rPr lang="en-US" altLang="zh-CN" dirty="0" err="1">
                <a:ea typeface="STHeiti" panose="02010600040101010101" pitchFamily="2" charset="-122"/>
              </a:rPr>
              <a:t>posix</a:t>
            </a:r>
            <a:r>
              <a:rPr lang="zh-CN" altLang="en-US" dirty="0">
                <a:ea typeface="STHeiti" panose="02010600040101010101" pitchFamily="2" charset="-122"/>
              </a:rPr>
              <a:t>语义不一致</a:t>
            </a:r>
            <a:r>
              <a:rPr lang="en-US" altLang="zh-CN" dirty="0">
                <a:ea typeface="STHeiti" panose="02010600040101010101" pitchFamily="2" charset="-122"/>
              </a:rPr>
              <a:t>, </a:t>
            </a:r>
            <a:r>
              <a:rPr lang="zh-CN" altLang="en-US" dirty="0">
                <a:ea typeface="STHeiti" panose="02010600040101010101" pitchFamily="2" charset="-122"/>
              </a:rPr>
              <a:t>比如负的</a:t>
            </a:r>
            <a:r>
              <a:rPr lang="en-US" altLang="zh-CN" dirty="0" err="1">
                <a:ea typeface="STHeiti" panose="02010600040101010101" pitchFamily="2" charset="-122"/>
              </a:rPr>
              <a:t>l_len</a:t>
            </a:r>
            <a:r>
              <a:rPr lang="en-US" altLang="zh-CN" dirty="0">
                <a:ea typeface="STHeiti" panose="02010600040101010101" pitchFamily="2" charset="-122"/>
              </a:rPr>
              <a:t>;</a:t>
            </a:r>
            <a:r>
              <a:rPr lang="zh-CN" altLang="en-US" dirty="0">
                <a:ea typeface="STHeiti" panose="02010600040101010101" pitchFamily="2" charset="-122"/>
              </a:rPr>
              <a:t> 比如唤醒和返回值模式</a:t>
            </a:r>
            <a:r>
              <a:rPr lang="en-US" altLang="zh-CN" dirty="0">
                <a:ea typeface="STHeiti" panose="0201060004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ea typeface="STHeiti" panose="02010600040101010101" pitchFamily="2" charset="-122"/>
              </a:rPr>
              <a:t>(2)</a:t>
            </a:r>
            <a:r>
              <a:rPr lang="zh-CN" altLang="en-US" dirty="0">
                <a:ea typeface="STHeiti" panose="02010600040101010101" pitchFamily="2" charset="-122"/>
              </a:rPr>
              <a:t> 锁的问题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比如子进程退出</a:t>
            </a:r>
            <a:r>
              <a:rPr lang="en-US" altLang="zh-CN" dirty="0">
                <a:ea typeface="STHeiti" panose="02010600040101010101" pitchFamily="2" charset="-122"/>
              </a:rPr>
              <a:t>,</a:t>
            </a:r>
            <a:r>
              <a:rPr lang="zh-CN" altLang="en-US" dirty="0">
                <a:ea typeface="STHeiti" panose="02010600040101010101" pitchFamily="2" charset="-122"/>
              </a:rPr>
              <a:t> 失败的回滚、一致性</a:t>
            </a:r>
            <a:r>
              <a:rPr lang="en-US" altLang="zh-CN" dirty="0">
                <a:ea typeface="STHeiti" panose="02010600040101010101" pitchFamily="2" charset="-122"/>
              </a:rPr>
              <a:t>.</a:t>
            </a:r>
          </a:p>
          <a:p>
            <a:pPr marL="0" indent="0">
              <a:buNone/>
            </a:pPr>
            <a:endParaRPr lang="en-US" dirty="0">
              <a:ea typeface="STHeiti" panose="02010600040101010101" pitchFamily="2" charset="-122"/>
            </a:endParaRPr>
          </a:p>
          <a:p>
            <a:pPr marL="0" indent="0">
              <a:buNone/>
            </a:pPr>
            <a:r>
              <a:rPr lang="en-CN" dirty="0">
                <a:ea typeface="STHeiti" panose="02010600040101010101" pitchFamily="2" charset="-122"/>
              </a:rPr>
              <a:t>总结问题</a:t>
            </a:r>
            <a:r>
              <a:rPr lang="en-US" altLang="zh-CN" dirty="0">
                <a:ea typeface="STHeiti" panose="02010600040101010101" pitchFamily="2" charset="-122"/>
              </a:rPr>
              <a:t>: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US" altLang="zh-CN" dirty="0">
                <a:ea typeface="STHeiti" panose="02010600040101010101" pitchFamily="2" charset="-122"/>
              </a:rPr>
              <a:t>(1)</a:t>
            </a:r>
            <a:r>
              <a:rPr lang="zh-CN" altLang="en-US" dirty="0">
                <a:ea typeface="STHeiti" panose="02010600040101010101" pitchFamily="2" charset="-122"/>
              </a:rPr>
              <a:t> 语义对齐</a:t>
            </a:r>
            <a:r>
              <a:rPr lang="en-US" altLang="zh-CN" dirty="0">
                <a:ea typeface="STHeiti" panose="02010600040101010101" pitchFamily="2" charset="-122"/>
              </a:rPr>
              <a:t>;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US" altLang="zh-CN" dirty="0">
                <a:ea typeface="STHeiti" panose="02010600040101010101" pitchFamily="2" charset="-122"/>
              </a:rPr>
              <a:t>(2)</a:t>
            </a:r>
            <a:r>
              <a:rPr lang="zh-CN" altLang="en-US" dirty="0">
                <a:ea typeface="STHeiti" panose="02010600040101010101" pitchFamily="2" charset="-122"/>
              </a:rPr>
              <a:t> 并发</a:t>
            </a:r>
            <a:r>
              <a:rPr lang="en-US" altLang="zh-CN" dirty="0">
                <a:ea typeface="STHeiti" panose="02010600040101010101" pitchFamily="2" charset="-122"/>
              </a:rPr>
              <a:t>bug;</a:t>
            </a:r>
            <a:r>
              <a:rPr lang="zh-CN" altLang="en-US" dirty="0">
                <a:ea typeface="STHeiti" panose="02010600040101010101" pitchFamily="2" charset="-122"/>
              </a:rPr>
              <a:t> </a:t>
            </a:r>
            <a:r>
              <a:rPr lang="en-US" altLang="zh-CN" dirty="0">
                <a:ea typeface="STHeiti" panose="02010600040101010101" pitchFamily="2" charset="-122"/>
              </a:rPr>
              <a:t>(3)</a:t>
            </a:r>
            <a:r>
              <a:rPr lang="zh-CN" altLang="en-US" dirty="0">
                <a:ea typeface="STHeiti" panose="02010600040101010101" pitchFamily="2" charset="-122"/>
              </a:rPr>
              <a:t> 失败路径处理问题</a:t>
            </a:r>
            <a:r>
              <a:rPr lang="en-US" altLang="zh-CN" dirty="0">
                <a:ea typeface="STHeiti" panose="02010600040101010101" pitchFamily="2" charset="-122"/>
              </a:rPr>
              <a:t>.</a:t>
            </a:r>
          </a:p>
          <a:p>
            <a:pPr marL="0" indent="0">
              <a:buNone/>
            </a:pPr>
            <a:endParaRPr lang="en-CN" dirty="0">
              <a:ea typeface="STHe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774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453F4-90D6-780E-7CFB-D40516E3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CN" dirty="0"/>
              <a:t>EXP3 StarryOS中的Linux应用功能支持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980E7-9485-2D42-1436-7D38660AA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184" y="934975"/>
            <a:ext cx="10515600" cy="4351338"/>
          </a:xfrm>
        </p:spPr>
        <p:txBody>
          <a:bodyPr/>
          <a:lstStyle/>
          <a:p>
            <a:r>
              <a:rPr lang="en-CN" dirty="0"/>
              <a:t>Busybox</a:t>
            </a:r>
          </a:p>
          <a:p>
            <a:endParaRPr lang="en-C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256BE7-3ED0-E0BF-2961-F667C03F0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543486"/>
              </p:ext>
            </p:extLst>
          </p:nvPr>
        </p:nvGraphicFramePr>
        <p:xfrm>
          <a:off x="375062" y="1369888"/>
          <a:ext cx="1049086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864">
                  <a:extLst>
                    <a:ext uri="{9D8B030D-6E8A-4147-A177-3AD203B41FA5}">
                      <a16:colId xmlns:a16="http://schemas.microsoft.com/office/drawing/2014/main" val="170838515"/>
                    </a:ext>
                  </a:extLst>
                </a:gridCol>
                <a:gridCol w="1892136">
                  <a:extLst>
                    <a:ext uri="{9D8B030D-6E8A-4147-A177-3AD203B41FA5}">
                      <a16:colId xmlns:a16="http://schemas.microsoft.com/office/drawing/2014/main" val="2906650850"/>
                    </a:ext>
                  </a:extLst>
                </a:gridCol>
                <a:gridCol w="1605479">
                  <a:extLst>
                    <a:ext uri="{9D8B030D-6E8A-4147-A177-3AD203B41FA5}">
                      <a16:colId xmlns:a16="http://schemas.microsoft.com/office/drawing/2014/main" val="2249797072"/>
                    </a:ext>
                  </a:extLst>
                </a:gridCol>
                <a:gridCol w="4821381">
                  <a:extLst>
                    <a:ext uri="{9D8B030D-6E8A-4147-A177-3AD203B41FA5}">
                      <a16:colId xmlns:a16="http://schemas.microsoft.com/office/drawing/2014/main" val="190302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N" dirty="0">
                          <a:latin typeface="+mn-lt"/>
                        </a:rPr>
                        <a:t>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>
                          <a:latin typeface="+mn-lt"/>
                        </a:rPr>
                        <a:t>测试命令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>
                          <a:latin typeface="+mn-lt"/>
                        </a:rPr>
                        <a:t>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+mn-lt"/>
                        </a:rPr>
                        <a:t>问题</a:t>
                      </a:r>
                      <a:endParaRPr lang="en-CN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7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b</a:t>
                      </a:r>
                      <a:r>
                        <a:rPr lang="en-CN" dirty="0">
                          <a:latin typeface="+mn-lt"/>
                        </a:rPr>
                        <a:t>usybox_acpid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busybox acpid 2&gt;&amp;1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-n "$_t" ]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a</a:t>
                      </a:r>
                      <a:r>
                        <a:rPr lang="en-CN" dirty="0">
                          <a:latin typeface="+mn-lt"/>
                        </a:rPr>
                        <a:t>cpid会把自己变成后台</a:t>
                      </a:r>
                      <a:r>
                        <a:rPr lang="en-US" altLang="zh-CN" dirty="0">
                          <a:latin typeface="+mn-lt"/>
                        </a:rPr>
                        <a:t>,</a:t>
                      </a:r>
                      <a:r>
                        <a:rPr lang="zh-CN" altLang="en-US" dirty="0">
                          <a:latin typeface="+mn-lt"/>
                        </a:rPr>
                        <a:t> </a:t>
                      </a:r>
                      <a:r>
                        <a:rPr lang="en-CN" dirty="0">
                          <a:latin typeface="+mn-lt"/>
                        </a:rPr>
                        <a:t>关闭输出</a:t>
                      </a:r>
                      <a:r>
                        <a:rPr lang="en-US" altLang="zh-CN" dirty="0">
                          <a:latin typeface="+mn-lt"/>
                        </a:rPr>
                        <a:t> (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  <a:latin typeface="+mn-lt"/>
                        </a:rPr>
                        <a:t>#722</a:t>
                      </a:r>
                      <a:r>
                        <a:rPr lang="en-US" altLang="zh-CN" dirty="0">
                          <a:latin typeface="+mn-lt"/>
                        </a:rPr>
                        <a:t>)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52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b</a:t>
                      </a:r>
                      <a:r>
                        <a:rPr lang="en-CN" dirty="0">
                          <a:latin typeface="+mn-lt"/>
                        </a:rPr>
                        <a:t>usybox_add_shell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busybox add-shell 2&gt;&amp;1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-n "$_t" ]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lt"/>
                        </a:rPr>
                        <a:t>/bin/shell</a:t>
                      </a:r>
                      <a:r>
                        <a:rPr lang="en-CN" dirty="0">
                          <a:latin typeface="+mn-lt"/>
                        </a:rPr>
                        <a:t>已经存在</a:t>
                      </a:r>
                      <a:r>
                        <a:rPr lang="en-US" altLang="zh-CN" dirty="0">
                          <a:latin typeface="+mn-lt"/>
                        </a:rPr>
                        <a:t>,</a:t>
                      </a:r>
                      <a:r>
                        <a:rPr lang="zh-CN" altLang="en-US" dirty="0">
                          <a:latin typeface="+mn-lt"/>
                        </a:rPr>
                        <a:t> </a:t>
                      </a:r>
                      <a:r>
                        <a:rPr lang="en-US" dirty="0" err="1">
                          <a:latin typeface="+mn-lt"/>
                        </a:rPr>
                        <a:t>静默退出</a:t>
                      </a:r>
                      <a:r>
                        <a:rPr lang="zh-CN" altLang="en-US" dirty="0">
                          <a:latin typeface="+mn-lt"/>
                        </a:rPr>
                        <a:t> </a:t>
                      </a:r>
                      <a:r>
                        <a:rPr lang="en-US" altLang="zh-CN" dirty="0">
                          <a:latin typeface="+mn-lt"/>
                        </a:rPr>
                        <a:t>(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  <a:latin typeface="+mn-lt"/>
                        </a:rPr>
                        <a:t>#751</a:t>
                      </a:r>
                      <a:r>
                        <a:rPr lang="en-US" altLang="zh-CN" dirty="0">
                          <a:latin typeface="+mn-lt"/>
                        </a:rPr>
                        <a:t>)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974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b</a:t>
                      </a:r>
                      <a:r>
                        <a:rPr lang="en-CN" dirty="0">
                          <a:latin typeface="+mn-lt"/>
                        </a:rPr>
                        <a:t>usybox_crond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busybox sh -c '... busybox crond -c /tmp/bb_crond_tabs ... busybox echo crond_ok' 2&gt;&amp;1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grep -qF "crond_ok"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>
                          <a:latin typeface="+mn-lt"/>
                        </a:rPr>
                        <a:t>之前让crond在前台运行,</a:t>
                      </a:r>
                      <a:r>
                        <a:rPr lang="zh-CN" altLang="en-US" dirty="0">
                          <a:latin typeface="+mn-lt"/>
                        </a:rPr>
                        <a:t> </a:t>
                      </a:r>
                      <a:r>
                        <a:rPr lang="en-CN" dirty="0">
                          <a:latin typeface="+mn-lt"/>
                        </a:rPr>
                        <a:t>但实际上可以运行新增了更严格的测试</a:t>
                      </a:r>
                      <a:r>
                        <a:rPr lang="zh-CN" altLang="en-US" dirty="0">
                          <a:latin typeface="+mn-lt"/>
                        </a:rPr>
                        <a:t>  </a:t>
                      </a:r>
                      <a:r>
                        <a:rPr lang="en-US" altLang="zh-CN" dirty="0">
                          <a:latin typeface="+mn-lt"/>
                        </a:rPr>
                        <a:t>(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  <a:latin typeface="+mn-lt"/>
                        </a:rPr>
                        <a:t>#741</a:t>
                      </a:r>
                      <a:r>
                        <a:rPr lang="en-US" altLang="zh-CN" dirty="0">
                          <a:latin typeface="+mn-lt"/>
                        </a:rPr>
                        <a:t>).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86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b</a:t>
                      </a:r>
                      <a:r>
                        <a:rPr lang="en-CN" dirty="0">
                          <a:latin typeface="+mn-lt"/>
                        </a:rPr>
                        <a:t>usybox_crontab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busybox sh -c '... busybox crontab ... busybox echo cron_tab_ok ...' 2&gt;&amp;1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grep -qF "cron_tab_ok"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>
                          <a:latin typeface="+mn-lt"/>
                        </a:rPr>
                        <a:t>创建文件失败</a:t>
                      </a:r>
                      <a:r>
                        <a:rPr lang="en-US" altLang="zh-CN" dirty="0">
                          <a:latin typeface="+mn-lt"/>
                        </a:rPr>
                        <a:t>,</a:t>
                      </a:r>
                      <a:r>
                        <a:rPr lang="zh-CN" altLang="en-US" dirty="0">
                          <a:latin typeface="+mn-lt"/>
                        </a:rPr>
                        <a:t> </a:t>
                      </a:r>
                      <a:r>
                        <a:rPr lang="en-CN" dirty="0">
                          <a:latin typeface="+mn-lt"/>
                        </a:rPr>
                        <a:t>但是返回</a:t>
                      </a:r>
                      <a:r>
                        <a:rPr lang="en-US" altLang="zh-CN" dirty="0">
                          <a:latin typeface="+mn-lt"/>
                        </a:rPr>
                        <a:t>0</a:t>
                      </a:r>
                      <a:r>
                        <a:rPr lang="en-US" dirty="0">
                          <a:latin typeface="+mn-lt"/>
                        </a:rPr>
                        <a:t>说自己运行成功</a:t>
                      </a:r>
                      <a:r>
                        <a:rPr lang="en-US" altLang="zh-CN" dirty="0">
                          <a:latin typeface="+mn-lt"/>
                        </a:rPr>
                        <a:t> (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  <a:latin typeface="+mn-lt"/>
                        </a:rPr>
                        <a:t>#750</a:t>
                      </a:r>
                      <a:r>
                        <a:rPr lang="en-US" altLang="zh-CN" dirty="0">
                          <a:latin typeface="+mn-lt"/>
                        </a:rPr>
                        <a:t>)</a:t>
                      </a:r>
                    </a:p>
                    <a:p>
                      <a:r>
                        <a:rPr lang="en-US" dirty="0" err="1">
                          <a:latin typeface="+mn-lt"/>
                        </a:rPr>
                        <a:t>这是因为内核将TRUNC和APPEND视为冲突</a:t>
                      </a:r>
                      <a:r>
                        <a:rPr lang="en-US" altLang="zh-CN" dirty="0">
                          <a:latin typeface="+mn-lt"/>
                        </a:rPr>
                        <a:t>.</a:t>
                      </a:r>
                    </a:p>
                    <a:p>
                      <a:r>
                        <a:rPr lang="en-US" dirty="0" err="1">
                          <a:latin typeface="+mn-lt"/>
                        </a:rPr>
                        <a:t>修复内核中文件系统有关的问题并重写了更严格的测试</a:t>
                      </a:r>
                      <a:r>
                        <a:rPr lang="zh-CN" altLang="en-US" dirty="0">
                          <a:latin typeface="+mn-lt"/>
                        </a:rPr>
                        <a:t> </a:t>
                      </a:r>
                      <a:r>
                        <a:rPr lang="en-US" altLang="zh-CN" dirty="0">
                          <a:latin typeface="+mn-lt"/>
                        </a:rPr>
                        <a:t>(</a:t>
                      </a:r>
                      <a:r>
                        <a:rPr lang="en-US" dirty="0" err="1">
                          <a:latin typeface="+mn-lt"/>
                        </a:rPr>
                        <a:t>先添加</a:t>
                      </a:r>
                      <a:r>
                        <a:rPr lang="en-US" altLang="zh-CN" dirty="0">
                          <a:latin typeface="+mn-lt"/>
                        </a:rPr>
                        <a:t>,</a:t>
                      </a:r>
                      <a:r>
                        <a:rPr lang="zh-CN" altLang="en-US" dirty="0">
                          <a:latin typeface="+mn-lt"/>
                        </a:rPr>
                        <a:t> </a:t>
                      </a:r>
                      <a:r>
                        <a:rPr lang="en-US" dirty="0" err="1">
                          <a:latin typeface="+mn-lt"/>
                        </a:rPr>
                        <a:t>再ls</a:t>
                      </a:r>
                      <a:r>
                        <a:rPr lang="en-US" altLang="zh-CN" dirty="0">
                          <a:latin typeface="+mn-lt"/>
                        </a:rPr>
                        <a:t>,</a:t>
                      </a:r>
                      <a:r>
                        <a:rPr lang="zh-CN" altLang="en-US" dirty="0">
                          <a:latin typeface="+mn-lt"/>
                        </a:rPr>
                        <a:t> </a:t>
                      </a:r>
                      <a:r>
                        <a:rPr lang="en-US" dirty="0" err="1">
                          <a:latin typeface="+mn-lt"/>
                        </a:rPr>
                        <a:t>最后删除</a:t>
                      </a:r>
                      <a:r>
                        <a:rPr lang="en-US" altLang="zh-CN" dirty="0">
                          <a:latin typeface="+mn-lt"/>
                        </a:rPr>
                        <a:t>).</a:t>
                      </a:r>
                      <a:endParaRPr lang="en-CN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460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36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FF8DF-8D22-E119-4634-EDD1024D9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6888"/>
            <a:ext cx="10515600" cy="6170390"/>
          </a:xfrm>
        </p:spPr>
        <p:txBody>
          <a:bodyPr/>
          <a:lstStyle/>
          <a:p>
            <a:r>
              <a:rPr lang="en-CN" dirty="0">
                <a:ea typeface="SimHei" panose="02010609060101010101" pitchFamily="49" charset="-122"/>
              </a:rPr>
              <a:t>Workflow设计</a:t>
            </a:r>
            <a:r>
              <a:rPr lang="en-US" altLang="zh-CN" dirty="0">
                <a:ea typeface="SimHei" panose="02010609060101010101" pitchFamily="49" charset="-122"/>
              </a:rPr>
              <a:t>:</a:t>
            </a:r>
          </a:p>
          <a:p>
            <a:pPr marL="0" indent="0">
              <a:buNone/>
            </a:pP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r>
              <a:rPr lang="en-CN" sz="2000" dirty="0">
                <a:ea typeface="SimHei" panose="02010609060101010101" pitchFamily="49" charset="-122"/>
              </a:rPr>
              <a:t>提PR前的审计</a:t>
            </a:r>
          </a:p>
          <a:p>
            <a:pPr marL="0" indent="0">
              <a:buNone/>
            </a:pPr>
            <a:r>
              <a:rPr lang="en-US" altLang="zh-CN" sz="2000" dirty="0">
                <a:ea typeface="SimHei" panose="02010609060101010101" pitchFamily="49" charset="-122"/>
              </a:rPr>
              <a:t>1.</a:t>
            </a:r>
            <a:r>
              <a:rPr lang="zh-CN" altLang="en-US" sz="2000" dirty="0">
                <a:ea typeface="SimHei" panose="02010609060101010101" pitchFamily="49" charset="-122"/>
              </a:rPr>
              <a:t> </a:t>
            </a:r>
            <a:r>
              <a:rPr lang="en-CN" sz="2000" dirty="0">
                <a:ea typeface="SimHei" panose="02010609060101010101" pitchFamily="49" charset="-122"/>
              </a:rPr>
              <a:t>是否绕开了真实的路径</a:t>
            </a:r>
            <a:r>
              <a:rPr lang="en-US" altLang="zh-CN" sz="2000" dirty="0">
                <a:ea typeface="SimHei" panose="02010609060101010101" pitchFamily="49" charset="-122"/>
              </a:rPr>
              <a:t>?</a:t>
            </a: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>
                <a:ea typeface="SimHei" panose="02010609060101010101" pitchFamily="49" charset="-122"/>
              </a:rPr>
              <a:t>2.</a:t>
            </a:r>
            <a:r>
              <a:rPr lang="zh-CN" altLang="en-US" sz="2000" dirty="0">
                <a:ea typeface="SimHei" panose="02010609060101010101" pitchFamily="49" charset="-122"/>
              </a:rPr>
              <a:t> </a:t>
            </a:r>
            <a:r>
              <a:rPr lang="en-CN" sz="2000" dirty="0">
                <a:ea typeface="SimHei" panose="02010609060101010101" pitchFamily="49" charset="-122"/>
              </a:rPr>
              <a:t>BusyBox是否在偷偷 Fallback</a:t>
            </a:r>
            <a:r>
              <a:rPr lang="en-US" altLang="zh-CN" sz="2000" dirty="0">
                <a:ea typeface="SimHei" panose="02010609060101010101" pitchFamily="49" charset="-122"/>
              </a:rPr>
              <a:t>?</a:t>
            </a:r>
            <a:r>
              <a:rPr lang="zh-CN" altLang="en-US" sz="2000" dirty="0">
                <a:ea typeface="SimHei" panose="02010609060101010101" pitchFamily="49" charset="-122"/>
              </a:rPr>
              <a:t> </a:t>
            </a:r>
            <a:r>
              <a:rPr lang="en-US" altLang="zh-CN" sz="2000" dirty="0">
                <a:ea typeface="SimHei" panose="02010609060101010101" pitchFamily="49" charset="-122"/>
              </a:rPr>
              <a:t>(</a:t>
            </a:r>
            <a:r>
              <a:rPr lang="en-CN" sz="2000" dirty="0">
                <a:ea typeface="SimHei" panose="02010609060101010101" pitchFamily="49" charset="-122"/>
              </a:rPr>
              <a:t>内核报错后</a:t>
            </a:r>
            <a:r>
              <a:rPr lang="en-US" altLang="zh-CN" sz="2000" dirty="0">
                <a:ea typeface="SimHei" panose="02010609060101010101" pitchFamily="49" charset="-122"/>
              </a:rPr>
              <a:t>,</a:t>
            </a:r>
            <a:r>
              <a:rPr lang="en-CN" sz="2000" dirty="0">
                <a:ea typeface="SimHei" panose="02010609060101010101" pitchFamily="49" charset="-122"/>
              </a:rPr>
              <a:t>上层应用是否装作没事发生</a:t>
            </a:r>
            <a:r>
              <a:rPr lang="en-US" altLang="zh-CN" sz="2000" dirty="0">
                <a:ea typeface="SimHei" panose="02010609060101010101" pitchFamily="49" charset="-122"/>
              </a:rPr>
              <a:t>?)</a:t>
            </a: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>
                <a:ea typeface="SimHei" panose="02010609060101010101" pitchFamily="49" charset="-122"/>
              </a:rPr>
              <a:t>3.</a:t>
            </a:r>
            <a:r>
              <a:rPr lang="zh-CN" altLang="en-US" sz="2000" dirty="0">
                <a:ea typeface="SimHei" panose="02010609060101010101" pitchFamily="49" charset="-122"/>
              </a:rPr>
              <a:t> </a:t>
            </a:r>
            <a:r>
              <a:rPr lang="en-CN" sz="2000" dirty="0">
                <a:ea typeface="SimHei" panose="02010609060101010101" pitchFamily="49" charset="-122"/>
              </a:rPr>
              <a:t>行为是否与原生Linux/POSIX完美对齐</a:t>
            </a:r>
            <a:r>
              <a:rPr lang="en-US" altLang="zh-CN" sz="2000" dirty="0">
                <a:ea typeface="SimHei" panose="02010609060101010101" pitchFamily="49" charset="-122"/>
              </a:rPr>
              <a:t>?</a:t>
            </a:r>
            <a:r>
              <a:rPr lang="zh-CN" altLang="en-US" sz="2000" dirty="0">
                <a:ea typeface="SimHei" panose="02010609060101010101" pitchFamily="49" charset="-122"/>
              </a:rPr>
              <a:t> </a:t>
            </a:r>
            <a:r>
              <a:rPr lang="en-CN" sz="2000" dirty="0">
                <a:ea typeface="SimHei" panose="02010609060101010101" pitchFamily="49" charset="-122"/>
              </a:rPr>
              <a:t>在标准Alpine环境下跑</a:t>
            </a:r>
            <a:r>
              <a:rPr lang="en-US" altLang="zh-CN" sz="2000" dirty="0">
                <a:ea typeface="SimHei" panose="02010609060101010101" pitchFamily="49" charset="-122"/>
              </a:rPr>
              <a:t>,</a:t>
            </a:r>
            <a:r>
              <a:rPr lang="zh-CN" altLang="en-US" sz="2000" dirty="0">
                <a:ea typeface="SimHei" panose="02010609060101010101" pitchFamily="49" charset="-122"/>
              </a:rPr>
              <a:t> </a:t>
            </a:r>
            <a:r>
              <a:rPr lang="en-CN" sz="2000" dirty="0">
                <a:ea typeface="SimHei" panose="02010609060101010101" pitchFamily="49" charset="-122"/>
              </a:rPr>
              <a:t>输出和返回码是否完全一致</a:t>
            </a:r>
            <a:r>
              <a:rPr lang="en-US" altLang="zh-CN" sz="2000" dirty="0">
                <a:ea typeface="SimHei" panose="02010609060101010101" pitchFamily="49" charset="-122"/>
              </a:rPr>
              <a:t>?)</a:t>
            </a: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>
                <a:ea typeface="SimHei" panose="02010609060101010101" pitchFamily="49" charset="-122"/>
              </a:rPr>
              <a:t>4.</a:t>
            </a:r>
            <a:r>
              <a:rPr lang="zh-CN" altLang="en-US" sz="2000" dirty="0">
                <a:ea typeface="SimHei" panose="02010609060101010101" pitchFamily="49" charset="-122"/>
              </a:rPr>
              <a:t> </a:t>
            </a:r>
            <a:r>
              <a:rPr lang="en-CN" sz="2000" dirty="0">
                <a:ea typeface="SimHei" panose="02010609060101010101" pitchFamily="49" charset="-122"/>
              </a:rPr>
              <a:t>新增内核代码是否有伪装的stub实现</a:t>
            </a:r>
            <a:r>
              <a:rPr lang="en-US" altLang="zh-CN" sz="2000" dirty="0">
                <a:ea typeface="SimHei" panose="02010609060101010101" pitchFamily="49" charset="-122"/>
              </a:rPr>
              <a:t>?</a:t>
            </a:r>
            <a:endParaRPr lang="en-CN" sz="2000" dirty="0"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CN" sz="2000" dirty="0">
              <a:ea typeface="SimHei" panose="02010609060101010101" pitchFamily="49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0FAEB8-75CE-589B-0E4B-CC1DB9FF1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5" y="895506"/>
            <a:ext cx="12041050" cy="328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49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DA0A-02FC-2915-12F2-7D62DA96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EXP4 EBPF功能支持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Stage1EBPF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迁徙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415F4-F486-DC54-91AC-70C2255A7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ea typeface="SimHei" panose="02010609060101010101" pitchFamily="49" charset="-122"/>
              </a:rPr>
              <a:t>eBPF</a:t>
            </a:r>
            <a:r>
              <a:rPr lang="ja-JP" altLang="en-US">
                <a:ea typeface="SimHei" panose="02010609060101010101" pitchFamily="49" charset="-122"/>
              </a:rPr>
              <a:t>运行时</a:t>
            </a:r>
            <a:r>
              <a:rPr lang="zh-CN" altLang="en-US" dirty="0">
                <a:ea typeface="SimHei" panose="02010609060101010101" pitchFamily="49" charset="-122"/>
              </a:rPr>
              <a:t> </a:t>
            </a:r>
            <a:r>
              <a:rPr lang="en-US" altLang="zh-CN" dirty="0">
                <a:ea typeface="SimHei" panose="02010609060101010101" pitchFamily="49" charset="-122"/>
              </a:rPr>
              <a:t>(</a:t>
            </a:r>
            <a:r>
              <a:rPr lang="en-US" altLang="zh-CN" dirty="0">
                <a:solidFill>
                  <a:srgbClr val="0070C0"/>
                </a:solidFill>
                <a:ea typeface="SimHei" panose="02010609060101010101" pitchFamily="49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https://github.com/rcore-os/tgoskits/pull/850</a:t>
            </a:r>
            <a:r>
              <a:rPr lang="en-US" altLang="zh-CN" dirty="0">
                <a:ea typeface="SimHei" panose="02010609060101010101" pitchFamily="49" charset="-122"/>
              </a:rPr>
              <a:t>)</a:t>
            </a:r>
          </a:p>
          <a:p>
            <a:r>
              <a:rPr lang="en-US" dirty="0"/>
              <a:t>B</a:t>
            </a:r>
            <a:r>
              <a:rPr lang="en-CN" dirty="0"/>
              <a:t>pf</a:t>
            </a:r>
            <a:r>
              <a:rPr lang="zh-CN" altLang="en-US" dirty="0"/>
              <a:t> </a:t>
            </a:r>
            <a:r>
              <a:rPr lang="en-CN" altLang="zh-CN" dirty="0"/>
              <a:t>syscall</a:t>
            </a:r>
            <a:r>
              <a:rPr lang="en-CN" dirty="0"/>
              <a:t> → BpfMap / BpfProg → perf_event_open → kprobe / tracepoint → rbpf 执行</a:t>
            </a:r>
            <a:endParaRPr lang="en-US" dirty="0">
              <a:ea typeface="SimHei" panose="02010609060101010101" pitchFamily="49" charset="-122"/>
            </a:endParaRPr>
          </a:p>
          <a:p>
            <a:endParaRPr lang="en-US" dirty="0">
              <a:ea typeface="SimHei" panose="02010609060101010101" pitchFamily="49" charset="-122"/>
            </a:endParaRPr>
          </a:p>
          <a:p>
            <a:r>
              <a:rPr lang="en-US" dirty="0" err="1">
                <a:ea typeface="SimHei" panose="02010609060101010101" pitchFamily="49" charset="-122"/>
              </a:rPr>
              <a:t>利用perf子系统的kprobe和tracepoint</a:t>
            </a:r>
            <a:r>
              <a:rPr lang="en-CN" dirty="0">
                <a:ea typeface="SimHei" panose="02010609060101010101" pitchFamily="49" charset="-122"/>
              </a:rPr>
              <a:t>抓取事件</a:t>
            </a:r>
          </a:p>
          <a:p>
            <a:r>
              <a:rPr lang="en-CN" dirty="0">
                <a:ea typeface="SimHei" panose="02010609060101010101" pitchFamily="49" charset="-122"/>
              </a:rPr>
              <a:t>在内核eBPF直接计算</a:t>
            </a:r>
            <a:r>
              <a:rPr lang="en-US" altLang="zh-CN" dirty="0">
                <a:ea typeface="SimHei" panose="02010609060101010101" pitchFamily="49" charset="-122"/>
              </a:rPr>
              <a:t>,</a:t>
            </a:r>
            <a:r>
              <a:rPr lang="zh-CN" altLang="en-US" dirty="0">
                <a:ea typeface="SimHei" panose="02010609060101010101" pitchFamily="49" charset="-122"/>
              </a:rPr>
              <a:t> 避免上下文切换开销</a:t>
            </a:r>
            <a:endParaRPr 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7565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4E0E4-2B01-65E0-F21F-DF415A5D0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0293"/>
            <a:ext cx="10515600" cy="5786670"/>
          </a:xfrm>
        </p:spPr>
        <p:txBody>
          <a:bodyPr/>
          <a:lstStyle/>
          <a:p>
            <a:r>
              <a:rPr lang="en-US" altLang="zh-CN" dirty="0">
                <a:ea typeface="SimHei" panose="02010609060101010101" pitchFamily="49" charset="-122"/>
              </a:rPr>
              <a:t>LKM</a:t>
            </a:r>
            <a:r>
              <a:rPr lang="ja-JP" altLang="en-US">
                <a:ea typeface="SimHei" panose="02010609060101010101" pitchFamily="49" charset="-122"/>
              </a:rPr>
              <a:t>支持 </a:t>
            </a:r>
            <a:r>
              <a:rPr lang="en-US" altLang="ja-JP" dirty="0">
                <a:ea typeface="SimHei" panose="02010609060101010101" pitchFamily="49" charset="-122"/>
              </a:rPr>
              <a:t>(</a:t>
            </a:r>
            <a:r>
              <a:rPr lang="en-US" altLang="ja-JP" dirty="0">
                <a:solidFill>
                  <a:srgbClr val="0070C0"/>
                </a:solidFill>
                <a:ea typeface="SimHei" panose="02010609060101010101" pitchFamily="49" charset="-122"/>
              </a:rPr>
              <a:t>https://</a:t>
            </a:r>
            <a:r>
              <a:rPr lang="en-US" altLang="ja-JP" dirty="0" err="1">
                <a:solidFill>
                  <a:srgbClr val="0070C0"/>
                </a:solidFill>
                <a:ea typeface="SimHei" panose="02010609060101010101" pitchFamily="49" charset="-122"/>
              </a:rPr>
              <a:t>github.com</a:t>
            </a:r>
            <a:r>
              <a:rPr lang="en-US" altLang="ja-JP" dirty="0">
                <a:solidFill>
                  <a:srgbClr val="0070C0"/>
                </a:solidFill>
                <a:ea typeface="SimHei" panose="02010609060101010101" pitchFamily="49" charset="-122"/>
              </a:rPr>
              <a:t>/</a:t>
            </a:r>
            <a:r>
              <a:rPr lang="en-US" altLang="ja-JP" dirty="0" err="1">
                <a:solidFill>
                  <a:srgbClr val="0070C0"/>
                </a:solidFill>
                <a:ea typeface="SimHei" panose="02010609060101010101" pitchFamily="49" charset="-122"/>
              </a:rPr>
              <a:t>rcore-os</a:t>
            </a:r>
            <a:r>
              <a:rPr lang="en-US" altLang="ja-JP" dirty="0">
                <a:solidFill>
                  <a:srgbClr val="0070C0"/>
                </a:solidFill>
                <a:ea typeface="SimHei" panose="02010609060101010101" pitchFamily="49" charset="-122"/>
              </a:rPr>
              <a:t>/</a:t>
            </a:r>
            <a:r>
              <a:rPr lang="en-US" altLang="ja-JP" dirty="0" err="1">
                <a:solidFill>
                  <a:srgbClr val="0070C0"/>
                </a:solidFill>
                <a:ea typeface="SimHei" panose="02010609060101010101" pitchFamily="49" charset="-122"/>
              </a:rPr>
              <a:t>tgoskits</a:t>
            </a:r>
            <a:r>
              <a:rPr lang="en-US" altLang="ja-JP" dirty="0">
                <a:solidFill>
                  <a:srgbClr val="0070C0"/>
                </a:solidFill>
                <a:ea typeface="SimHei" panose="02010609060101010101" pitchFamily="49" charset="-122"/>
              </a:rPr>
              <a:t>/pull/851</a:t>
            </a:r>
            <a:r>
              <a:rPr lang="en-US" altLang="ja-JP" dirty="0">
                <a:ea typeface="SimHei" panose="02010609060101010101" pitchFamily="49" charset="-122"/>
              </a:rPr>
              <a:t>)</a:t>
            </a:r>
          </a:p>
          <a:p>
            <a:r>
              <a:rPr lang="en-CN" dirty="0"/>
              <a:t>接受用户态.ko文件, 解析内容</a:t>
            </a:r>
            <a:r>
              <a:rPr lang="en-US" dirty="0" err="1"/>
              <a:t>并注册到MODULES表</a:t>
            </a:r>
            <a:endParaRPr lang="en-CN" dirty="0"/>
          </a:p>
          <a:p>
            <a:r>
              <a:rPr lang="en-US" dirty="0" err="1"/>
              <a:t>三个syscall</a:t>
            </a:r>
            <a:r>
              <a:rPr lang="en-US" dirty="0"/>
              <a:t>: </a:t>
            </a:r>
            <a:r>
              <a:rPr lang="en-US" dirty="0" err="1"/>
              <a:t>init_module</a:t>
            </a:r>
            <a:r>
              <a:rPr lang="en-US" dirty="0"/>
              <a:t>, </a:t>
            </a:r>
            <a:r>
              <a:rPr lang="en-US" dirty="0" err="1"/>
              <a:t>finit_module</a:t>
            </a:r>
            <a:r>
              <a:rPr lang="en-US" dirty="0"/>
              <a:t>, </a:t>
            </a:r>
            <a:r>
              <a:rPr lang="en-US" dirty="0" err="1"/>
              <a:t>delete_module</a:t>
            </a:r>
            <a:endParaRPr lang="en-CN" dirty="0"/>
          </a:p>
          <a:p>
            <a:r>
              <a:rPr lang="en-CN" dirty="0"/>
              <a:t>借助当前的xtask系统实现了cargo xtask starry kmod build构建链</a:t>
            </a:r>
            <a:r>
              <a:rPr lang="en-US" dirty="0" err="1"/>
              <a:t>将Rust模块编译为.ko</a:t>
            </a:r>
            <a:endParaRPr lang="en-US" dirty="0"/>
          </a:p>
          <a:p>
            <a:endParaRPr lang="en-US" altLang="zh-CN" dirty="0">
              <a:ea typeface="SimHei" panose="02010609060101010101" pitchFamily="49" charset="-122"/>
            </a:endParaRPr>
          </a:p>
          <a:p>
            <a:endParaRPr lang="en-US" altLang="zh-CN" dirty="0">
              <a:ea typeface="SimHei" panose="02010609060101010101" pitchFamily="49" charset="-122"/>
            </a:endParaRPr>
          </a:p>
          <a:p>
            <a:r>
              <a:rPr lang="en-US" altLang="zh-CN" dirty="0" err="1">
                <a:ea typeface="SimHei" panose="02010609060101010101" pitchFamily="49" charset="-122"/>
              </a:rPr>
              <a:t>kmod</a:t>
            </a:r>
            <a:r>
              <a:rPr lang="zh-CN" altLang="en-US" dirty="0">
                <a:ea typeface="SimHei" panose="02010609060101010101" pitchFamily="49" charset="-122"/>
              </a:rPr>
              <a:t> </a:t>
            </a:r>
            <a:r>
              <a:rPr lang="en-US" altLang="zh-CN" dirty="0">
                <a:ea typeface="SimHei" panose="02010609060101010101" pitchFamily="49" charset="-122"/>
              </a:rPr>
              <a:t>demo </a:t>
            </a:r>
            <a:r>
              <a:rPr lang="zh-CN" altLang="en-US" dirty="0">
                <a:ea typeface="SimHei" panose="02010609060101010101" pitchFamily="49" charset="-122"/>
              </a:rPr>
              <a:t>实现</a:t>
            </a:r>
            <a:r>
              <a:rPr lang="en-US" altLang="zh-CN" dirty="0">
                <a:ea typeface="SimHei" panose="02010609060101010101" pitchFamily="49" charset="-122"/>
              </a:rPr>
              <a:t> (</a:t>
            </a:r>
            <a:r>
              <a:rPr lang="en-US" altLang="zh-CN" dirty="0">
                <a:solidFill>
                  <a:srgbClr val="0070C0"/>
                </a:solidFill>
                <a:ea typeface="SimHei" panose="02010609060101010101" pitchFamily="49" charset="-122"/>
                <a:hlinkClick r:id="rId2"/>
              </a:rPr>
              <a:t>https://github.com/rcore-os/tgoskits/pull/886</a:t>
            </a:r>
            <a:r>
              <a:rPr lang="en-US" altLang="zh-CN" dirty="0">
                <a:ea typeface="SimHei" panose="02010609060101010101" pitchFamily="49" charset="-122"/>
              </a:rPr>
              <a:t>)</a:t>
            </a:r>
          </a:p>
          <a:p>
            <a:pPr lvl="1"/>
            <a:r>
              <a:rPr lang="en-US" altLang="zh-CN" dirty="0">
                <a:ea typeface="SimHei" panose="02010609060101010101" pitchFamily="49" charset="-122"/>
              </a:rPr>
              <a:t>hello -&gt; </a:t>
            </a:r>
            <a:r>
              <a:rPr lang="zh-CN" altLang="en-US" dirty="0">
                <a:ea typeface="SimHei" panose="02010609060101010101" pitchFamily="49" charset="-122"/>
              </a:rPr>
              <a:t>能加载模块</a:t>
            </a:r>
            <a:r>
              <a:rPr lang="en-US" altLang="zh-CN" dirty="0">
                <a:ea typeface="SimHei" panose="02010609060101010101" pitchFamily="49" charset="-122"/>
              </a:rPr>
              <a:t>,</a:t>
            </a:r>
            <a:r>
              <a:rPr lang="zh-CN" altLang="en-US" dirty="0">
                <a:ea typeface="SimHei" panose="02010609060101010101" pitchFamily="49" charset="-122"/>
              </a:rPr>
              <a:t> 能</a:t>
            </a:r>
            <a:r>
              <a:rPr lang="en-US" altLang="zh-CN" dirty="0" err="1">
                <a:ea typeface="SimHei" panose="02010609060101010101" pitchFamily="49" charset="-122"/>
              </a:rPr>
              <a:t>init</a:t>
            </a:r>
            <a:r>
              <a:rPr lang="en-US" altLang="zh-CN" dirty="0">
                <a:ea typeface="SimHei" panose="02010609060101010101" pitchFamily="49" charset="-122"/>
              </a:rPr>
              <a:t>/exit,</a:t>
            </a:r>
            <a:r>
              <a:rPr lang="zh-CN" altLang="en-US" dirty="0">
                <a:ea typeface="SimHei" panose="02010609060101010101" pitchFamily="49" charset="-122"/>
              </a:rPr>
              <a:t> 能解析符号</a:t>
            </a:r>
            <a:endParaRPr lang="en-US" altLang="zh-CN" dirty="0">
              <a:ea typeface="SimHei" panose="02010609060101010101" pitchFamily="49" charset="-122"/>
            </a:endParaRPr>
          </a:p>
          <a:p>
            <a:pPr lvl="1"/>
            <a:r>
              <a:rPr lang="en-US" altLang="zh-CN" dirty="0" err="1">
                <a:ea typeface="SimHei" panose="02010609060101010101" pitchFamily="49" charset="-122"/>
              </a:rPr>
              <a:t>kebpf</a:t>
            </a:r>
            <a:r>
              <a:rPr lang="en-US" altLang="zh-CN" dirty="0">
                <a:ea typeface="SimHei" panose="02010609060101010101" pitchFamily="49" charset="-122"/>
              </a:rPr>
              <a:t> -&gt; </a:t>
            </a:r>
            <a:r>
              <a:rPr lang="zh-CN" altLang="en-US" dirty="0">
                <a:ea typeface="SimHei" panose="02010609060101010101" pitchFamily="49" charset="-122"/>
              </a:rPr>
              <a:t>能调用内核</a:t>
            </a:r>
            <a:r>
              <a:rPr lang="en-US" altLang="zh-CN" dirty="0">
                <a:ea typeface="SimHei" panose="02010609060101010101" pitchFamily="49" charset="-122"/>
              </a:rPr>
              <a:t>API,</a:t>
            </a:r>
            <a:r>
              <a:rPr lang="zh-CN" altLang="en-US" dirty="0">
                <a:ea typeface="SimHei" panose="02010609060101010101" pitchFamily="49" charset="-122"/>
              </a:rPr>
              <a:t> 能创建</a:t>
            </a:r>
            <a:r>
              <a:rPr lang="en-US" altLang="zh-CN" dirty="0" err="1">
                <a:ea typeface="SimHei" panose="02010609060101010101" pitchFamily="49" charset="-122"/>
              </a:rPr>
              <a:t>fd</a:t>
            </a:r>
            <a:r>
              <a:rPr lang="zh-CN" altLang="en-US" dirty="0">
                <a:ea typeface="SimHei" panose="02010609060101010101" pitchFamily="49" charset="-122"/>
              </a:rPr>
              <a:t>对象</a:t>
            </a:r>
            <a:endParaRPr lang="en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08258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D179-4A6A-D16B-887A-72E44F8A7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73"/>
            <a:ext cx="10515600" cy="1325563"/>
          </a:xfrm>
        </p:spPr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EXP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EBPF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功能支持 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Stage2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功能拓展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05DA7-039B-8262-EA26-EA3669DBE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0"/>
            <a:ext cx="10515600" cy="513193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CN" dirty="0" err="1"/>
              <a:t>Tracepoint</a:t>
            </a:r>
            <a:r>
              <a:rPr lang="en-US" dirty="0" err="1"/>
              <a:t>拓展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sched:*</a:t>
            </a:r>
            <a:r>
              <a:rPr lang="en-US" dirty="0" err="1"/>
              <a:t>tracepoints拓展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新增sched_switch、sched_process_fork、sched_process_exit</a:t>
            </a:r>
            <a:r>
              <a:rPr lang="en-US" dirty="0"/>
              <a:t> </a:t>
            </a:r>
            <a:r>
              <a:rPr lang="ja-JP" altLang="en-US"/>
              <a:t>三个 </a:t>
            </a:r>
            <a:r>
              <a:rPr lang="en-US" dirty="0" err="1"/>
              <a:t>tracepoint</a:t>
            </a:r>
            <a:r>
              <a:rPr lang="en-US" altLang="zh-CN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6F3F6B-D1F4-E7EB-0F70-6015049C5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6927"/>
              </p:ext>
            </p:extLst>
          </p:nvPr>
        </p:nvGraphicFramePr>
        <p:xfrm>
          <a:off x="1485735" y="3398321"/>
          <a:ext cx="8128000" cy="2414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5182337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87756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3548569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2963998"/>
                    </a:ext>
                  </a:extLst>
                </a:gridCol>
              </a:tblGrid>
              <a:tr h="585849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关联情境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修复点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922263"/>
                  </a:ext>
                </a:extLst>
              </a:tr>
              <a:tr h="5858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sched:sched_switch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未定义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调度追踪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run_queue.rs中的switch_to路径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254688"/>
                  </a:ext>
                </a:extLst>
              </a:tr>
              <a:tr h="5858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sched:sched_process_fork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sched_process_exit</a:t>
                      </a:r>
                      <a:endParaRPr lang="en-C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未定义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调度追踪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clone.rs中的exit/clone 路径</a:t>
                      </a:r>
                    </a:p>
                    <a:p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622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645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DF0B2-66C9-4380-C4D3-981F1DF00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083"/>
            <a:ext cx="10515600" cy="63450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 err="1"/>
              <a:t>mmap</a:t>
            </a:r>
            <a:r>
              <a:rPr lang="en-US" altLang="zh-CN" dirty="0"/>
              <a:t>(</a:t>
            </a:r>
            <a:r>
              <a:rPr lang="en-US" altLang="zh-CN" dirty="0" err="1"/>
              <a:t>perf_fd</a:t>
            </a:r>
            <a:r>
              <a:rPr lang="en-US" altLang="zh-CN" dirty="0"/>
              <a:t>) → </a:t>
            </a:r>
            <a:r>
              <a:rPr lang="en-US" altLang="zh-CN" dirty="0" err="1"/>
              <a:t>ringbuf</a:t>
            </a:r>
            <a:endParaRPr lang="en-US" altLang="zh-CN" dirty="0"/>
          </a:p>
          <a:p>
            <a:pPr marL="0" indent="0">
              <a:buNone/>
            </a:pPr>
            <a:r>
              <a:rPr lang="en-CN" b="1" dirty="0"/>
              <a:t>问题</a:t>
            </a:r>
            <a:r>
              <a:rPr lang="en-US" altLang="zh-CN" b="1" dirty="0"/>
              <a:t>:</a:t>
            </a:r>
            <a:r>
              <a:rPr lang="zh-CN" altLang="en-US" b="1" dirty="0"/>
              <a:t> </a:t>
            </a:r>
            <a:r>
              <a:rPr lang="en-US" altLang="zh-CN" dirty="0" err="1"/>
              <a:t>PerfEvent</a:t>
            </a:r>
            <a:r>
              <a:rPr lang="zh-CN" altLang="en-US" dirty="0"/>
              <a:t>没有覆写</a:t>
            </a:r>
            <a:r>
              <a:rPr lang="en-US" altLang="zh-CN" dirty="0" err="1"/>
              <a:t>device_map</a:t>
            </a:r>
            <a:r>
              <a:rPr lang="en-US" altLang="zh-CN" dirty="0"/>
              <a:t>,</a:t>
            </a:r>
            <a:r>
              <a:rPr lang="zh-CN" altLang="en-US" dirty="0"/>
              <a:t> 走默认实现返回</a:t>
            </a:r>
            <a:r>
              <a:rPr lang="en-US" altLang="zh-CN" dirty="0"/>
              <a:t>Err,</a:t>
            </a:r>
            <a:r>
              <a:rPr lang="zh-CN" altLang="en-US" dirty="0"/>
              <a:t> 用户态</a:t>
            </a:r>
            <a:r>
              <a:rPr lang="en-US" altLang="zh-CN" dirty="0" err="1"/>
              <a:t>mmap</a:t>
            </a:r>
            <a:r>
              <a:rPr lang="zh-CN" altLang="en-US" dirty="0"/>
              <a:t>失败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write_event</a:t>
            </a:r>
            <a:r>
              <a:rPr lang="zh-CN" altLang="en-US" dirty="0"/>
              <a:t>会静默丢失 </a:t>
            </a:r>
            <a:r>
              <a:rPr lang="en-US" altLang="zh-CN" dirty="0"/>
              <a:t>(</a:t>
            </a:r>
            <a:r>
              <a:rPr lang="zh-CN" altLang="en-US" dirty="0"/>
              <a:t>检测到</a:t>
            </a:r>
            <a:r>
              <a:rPr lang="en-US" altLang="zh-CN" dirty="0" err="1"/>
              <a:t>phys_addr</a:t>
            </a:r>
            <a:r>
              <a:rPr lang="zh-CN" altLang="en-US" dirty="0"/>
              <a:t>为</a:t>
            </a:r>
            <a:r>
              <a:rPr lang="en-US" altLang="zh-CN" dirty="0"/>
              <a:t>None</a:t>
            </a:r>
            <a:r>
              <a:rPr lang="zh-CN" altLang="en-US" dirty="0"/>
              <a:t>直接丢失</a:t>
            </a:r>
            <a:r>
              <a:rPr lang="en-US" altLang="zh-CN" dirty="0"/>
              <a:t>).</a:t>
            </a:r>
            <a:r>
              <a:rPr lang="zh-CN" altLang="en-US" dirty="0"/>
              <a:t> 并且旧有代码的空</a:t>
            </a:r>
            <a:r>
              <a:rPr lang="en-US" altLang="zh-CN" dirty="0"/>
              <a:t>Drop</a:t>
            </a:r>
            <a:r>
              <a:rPr lang="zh-CN" altLang="en-US" dirty="0"/>
              <a:t>实现会导致内存泄漏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实现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EB3D31-5F2E-EB80-946A-DC5A7DDBD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239" y="2936070"/>
            <a:ext cx="9179522" cy="371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94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E3265-6BC9-627C-06D4-5C2655AE7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8712"/>
            <a:ext cx="10515600" cy="56082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/>
              <a:t>Bug</a:t>
            </a:r>
            <a:r>
              <a:rPr lang="zh-CN" altLang="en-US" dirty="0"/>
              <a:t>修复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(1)</a:t>
            </a:r>
            <a:r>
              <a:rPr lang="zh-CN" altLang="en-US" dirty="0"/>
              <a:t> </a:t>
            </a:r>
            <a:r>
              <a:rPr lang="en-US" altLang="zh-CN" dirty="0"/>
              <a:t>VM</a:t>
            </a:r>
            <a:r>
              <a:rPr lang="zh-CN" altLang="en-US" dirty="0"/>
              <a:t>持有</a:t>
            </a:r>
            <a:r>
              <a:rPr lang="en-US" altLang="zh-CN" dirty="0"/>
              <a:t>prog</a:t>
            </a:r>
            <a:r>
              <a:rPr lang="zh-CN" altLang="en-US" dirty="0"/>
              <a:t>的指令的生命周期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问题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US" altLang="zh-CN" sz="2400" dirty="0"/>
              <a:t>unsafe</a:t>
            </a:r>
            <a:r>
              <a:rPr lang="zh-CN" altLang="en-US" sz="2400" dirty="0"/>
              <a:t>扩展</a:t>
            </a:r>
            <a:r>
              <a:rPr lang="en-US" altLang="zh-CN" sz="2400" dirty="0"/>
              <a:t>slice</a:t>
            </a:r>
            <a:r>
              <a:rPr lang="zh-CN" altLang="en-US" sz="2400" dirty="0"/>
              <a:t>为</a:t>
            </a:r>
            <a:r>
              <a:rPr lang="en-US" altLang="zh-CN" sz="2400" dirty="0"/>
              <a:t>static,</a:t>
            </a:r>
            <a:r>
              <a:rPr lang="zh-CN" altLang="en-US" sz="2400" dirty="0"/>
              <a:t> 绕过编译器</a:t>
            </a:r>
            <a:r>
              <a:rPr lang="en-US" altLang="zh-CN" sz="2400" dirty="0"/>
              <a:t>;</a:t>
            </a:r>
          </a:p>
          <a:p>
            <a:pPr marL="0" indent="0">
              <a:buNone/>
            </a:pPr>
            <a:r>
              <a:rPr lang="zh-CN" altLang="en-US" sz="2400" dirty="0"/>
              <a:t>解决</a:t>
            </a:r>
            <a:r>
              <a:rPr lang="en-US" altLang="zh-CN" sz="2400" dirty="0"/>
              <a:t>:</a:t>
            </a:r>
            <a:r>
              <a:rPr lang="zh-CN" altLang="en-US" sz="2400" dirty="0"/>
              <a:t> 绑定</a:t>
            </a:r>
            <a:r>
              <a:rPr lang="en-US" altLang="zh-CN" sz="2400" dirty="0"/>
              <a:t>prog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vm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en-CN" sz="2400" dirty="0"/>
              <a:t>Arc&lt;BpfProg&gt;</a:t>
            </a:r>
            <a:r>
              <a:rPr lang="en-US" altLang="zh-CN" sz="2400" dirty="0"/>
              <a:t>),</a:t>
            </a:r>
            <a:r>
              <a:rPr lang="zh-CN" altLang="en-US" sz="2400" dirty="0"/>
              <a:t> 确保指令的内存不会被提前回收</a:t>
            </a:r>
            <a:r>
              <a:rPr lang="en-US" altLang="zh-CN" sz="2400" dirty="0"/>
              <a:t>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(2)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600" dirty="0"/>
              <a:t>问题</a:t>
            </a:r>
            <a:r>
              <a:rPr lang="en-US" altLang="zh-CN" sz="2600" dirty="0"/>
              <a:t>:</a:t>
            </a:r>
            <a:r>
              <a:rPr lang="zh-CN" altLang="en-US" sz="2600" dirty="0"/>
              <a:t> 强行把</a:t>
            </a:r>
            <a:r>
              <a:rPr lang="en-US" altLang="zh-CN" sz="2600" dirty="0"/>
              <a:t>&amp;self</a:t>
            </a:r>
            <a:r>
              <a:rPr lang="zh-CN" altLang="en-US" sz="2600" dirty="0"/>
              <a:t>转为</a:t>
            </a:r>
            <a:r>
              <a:rPr lang="en-US" altLang="zh-CN" sz="2600" dirty="0"/>
              <a:t>&amp;mut self, </a:t>
            </a:r>
            <a:r>
              <a:rPr lang="zh-CN" altLang="en-US" sz="2600" dirty="0"/>
              <a:t>获取数据的可变引用</a:t>
            </a:r>
            <a:r>
              <a:rPr lang="en-US" altLang="zh-CN" sz="2600" dirty="0"/>
              <a:t>;</a:t>
            </a:r>
          </a:p>
          <a:p>
            <a:pPr marL="0" indent="0">
              <a:buNone/>
            </a:pPr>
            <a:r>
              <a:rPr lang="zh-CN" altLang="en-US" sz="2600" dirty="0"/>
              <a:t>导致</a:t>
            </a:r>
            <a:r>
              <a:rPr lang="en-US" altLang="zh-CN" sz="2600" dirty="0"/>
              <a:t>:</a:t>
            </a:r>
            <a:r>
              <a:rPr lang="zh-CN" altLang="en-US" sz="2600" dirty="0"/>
              <a:t> 编译器优化时仍然认为是</a:t>
            </a:r>
            <a:r>
              <a:rPr lang="en-US" altLang="zh-CN" sz="2600" dirty="0"/>
              <a:t>&amp;self, </a:t>
            </a:r>
            <a:r>
              <a:rPr lang="zh-CN" altLang="en-US" sz="2600" dirty="0"/>
              <a:t>从而读了寄存器里的脏数据</a:t>
            </a:r>
            <a:r>
              <a:rPr lang="en-US" altLang="zh-CN" sz="2600" dirty="0"/>
              <a:t>,</a:t>
            </a:r>
            <a:r>
              <a:rPr lang="zh-CN" altLang="en-US" sz="2600" dirty="0"/>
              <a:t> 或者做了预期外的指令重排</a:t>
            </a:r>
            <a:r>
              <a:rPr lang="en-US" altLang="zh-CN" sz="2600" dirty="0"/>
              <a:t>;</a:t>
            </a:r>
          </a:p>
          <a:p>
            <a:pPr marL="0" indent="0">
              <a:buNone/>
            </a:pPr>
            <a:r>
              <a:rPr lang="zh-CN" altLang="en-US" sz="2600" dirty="0"/>
              <a:t>解决</a:t>
            </a:r>
            <a:r>
              <a:rPr lang="en-US" altLang="zh-CN" sz="2600" dirty="0"/>
              <a:t>:</a:t>
            </a:r>
            <a:r>
              <a:rPr lang="zh-CN" altLang="en-US" sz="2600" dirty="0"/>
              <a:t> 将数组元素改为</a:t>
            </a:r>
            <a:r>
              <a:rPr lang="en-US" altLang="zh-CN" sz="2600" dirty="0" err="1"/>
              <a:t>UnsafeCell</a:t>
            </a:r>
            <a:r>
              <a:rPr lang="en-US" altLang="zh-CN" sz="2600" dirty="0"/>
              <a:t>&lt;T&gt;,</a:t>
            </a:r>
            <a:r>
              <a:rPr lang="zh-CN" altLang="en-US" sz="2600" dirty="0"/>
              <a:t> 内容声明为可变</a:t>
            </a:r>
            <a:r>
              <a:rPr lang="en-US" altLang="zh-CN" sz="2600" dirty="0"/>
              <a:t>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etc.</a:t>
            </a:r>
            <a:r>
              <a:rPr lang="zh-CN" altLang="en-US" dirty="0"/>
              <a:t>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57400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FCC1BE-F298-58AB-F30C-D58D4E474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7547" y="1812576"/>
            <a:ext cx="7953378" cy="5045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A3BCC5-7949-89DC-8D33-4BD2676EF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9297"/>
            <a:ext cx="4237547" cy="53688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3C0D95-E0A0-B455-229D-5200A6F6A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019" y="139894"/>
            <a:ext cx="7772400" cy="127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77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7D1C3-3A93-6D48-23BF-2A257605D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764"/>
            <a:ext cx="10515600" cy="5678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4</a:t>
            </a:r>
            <a:r>
              <a:rPr lang="en-CN" dirty="0"/>
              <a:t>. demo实现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CN" dirty="0"/>
              <a:t>内核性能监视</a:t>
            </a:r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US" altLang="zh-CN" dirty="0" err="1"/>
              <a:t>syscall_count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CN" dirty="0"/>
              <a:t>在syscall 入口注 kprobe; 每次触发把 syscall 号当 key, 计数 + 1; 用户态每 N 秒迭代 map 输出.</a:t>
            </a:r>
            <a:endParaRPr lang="en-US" altLang="zh-CN" dirty="0"/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CN" dirty="0"/>
              <a:t>sched_trace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CN" dirty="0"/>
              <a:t>在 switch_to 里注 sched:sched_switch的tracepoint; 把信息 (prev_tid, next_tid, prev_state, ts_ns)写入 ringbuf; 用户态 perf buffer reader 实时打印.</a:t>
            </a:r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CN" dirty="0"/>
              <a:t>profile_kprobe </a:t>
            </a:r>
            <a:r>
              <a:rPr lang="en-US" altLang="zh-CN" dirty="0"/>
              <a:t>:</a:t>
            </a:r>
            <a:r>
              <a:rPr lang="zh-CN" altLang="en-US" dirty="0"/>
              <a:t> 在</a:t>
            </a:r>
            <a:r>
              <a:rPr lang="en-CN" dirty="0"/>
              <a:t>调度入口注 kprobe; 获取PC; map[caller_pc]++</a:t>
            </a:r>
            <a:r>
              <a:rPr lang="en-US" altLang="zh-CN" dirty="0"/>
              <a:t> ;</a:t>
            </a:r>
            <a:r>
              <a:rPr lang="zh-CN" altLang="en-US" dirty="0"/>
              <a:t>  </a:t>
            </a:r>
            <a:r>
              <a:rPr lang="en-CN" dirty="0"/>
              <a:t>用户态打印</a:t>
            </a:r>
            <a:r>
              <a:rPr lang="en-US" altLang="zh-CN" dirty="0" err="1"/>
              <a:t>topk</a:t>
            </a:r>
            <a:r>
              <a:rPr lang="en-US" altLang="zh-CN" dirty="0"/>
              <a:t> caller</a:t>
            </a:r>
            <a:r>
              <a:rPr lang="en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47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6CB7-3097-0BFC-D060-4059E50E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Demo (1)syscall_count</a:t>
            </a:r>
            <a:endParaRPr lang="en-C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3D0F2A5-0565-B8A8-7DFA-6B6DA7782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46121"/>
            <a:ext cx="6263324" cy="535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36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0823-D470-A29A-6E61-5B817F0D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Demo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(3)</a:t>
            </a:r>
            <a:r>
              <a:rPr lang="en-US" altLang="zh-CN" dirty="0" err="1">
                <a:latin typeface="SimHei" panose="02010609060101010101" pitchFamily="49" charset="-122"/>
                <a:ea typeface="SimHei" panose="02010609060101010101" pitchFamily="49" charset="-122"/>
              </a:rPr>
              <a:t>sched_trace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9CFE4-D69E-6027-D807-28C85394C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089"/>
            <a:ext cx="10515600" cy="4351338"/>
          </a:xfrm>
        </p:spPr>
        <p:txBody>
          <a:bodyPr/>
          <a:lstStyle/>
          <a:p>
            <a:r>
              <a:rPr lang="en-CN" dirty="0"/>
              <a:t>发起人</a:t>
            </a:r>
            <a:r>
              <a:rPr lang="en-US" dirty="0"/>
              <a:t> cat /</a:t>
            </a:r>
            <a:r>
              <a:rPr lang="en-US" dirty="0" err="1"/>
              <a:t>tmp</a:t>
            </a:r>
            <a:r>
              <a:rPr lang="en-US" dirty="0"/>
              <a:t>/out</a:t>
            </a:r>
            <a:endParaRPr lang="en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6FAB7C-7DBB-5CF1-5EA6-5488CEB8D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930" y="0"/>
            <a:ext cx="3193837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5A0295-6FB2-BD65-9FDE-2E82339F5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76" y="2153870"/>
            <a:ext cx="9941723" cy="13255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64F196-4304-4DC3-81C7-03E33DF64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37" y="3814802"/>
            <a:ext cx="6324657" cy="143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07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60C7-9494-0F7B-9C1C-15ED4745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Demo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(3)</a:t>
            </a:r>
            <a:r>
              <a:rPr lang="en-US" altLang="zh-CN" dirty="0" err="1">
                <a:latin typeface="SimHei" panose="02010609060101010101" pitchFamily="49" charset="-122"/>
                <a:ea typeface="SimHei" panose="02010609060101010101" pitchFamily="49" charset="-122"/>
              </a:rPr>
              <a:t>profile_kprobe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0CA015-F81A-0C7C-CEE5-F39FACE8F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44" y="1718740"/>
            <a:ext cx="5789522" cy="466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AB029-7761-4E12-5E69-7E1DB5693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135" y="1690688"/>
            <a:ext cx="5859162" cy="472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3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49213-99AC-AB2E-385A-0342EF9E1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EXP4 EBPF比较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1F8C3-D965-ABBA-6A32-B1F67DD63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112"/>
            <a:ext cx="10515600" cy="4693851"/>
          </a:xfrm>
        </p:spPr>
        <p:txBody>
          <a:bodyPr/>
          <a:lstStyle/>
          <a:p>
            <a:r>
              <a:rPr lang="en-CN" dirty="0"/>
              <a:t>Linux vs. StarryOS/StarryOS vs. tgoskits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0C216B-1F5F-882C-D1E8-9B75BBD97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361897"/>
              </p:ext>
            </p:extLst>
          </p:nvPr>
        </p:nvGraphicFramePr>
        <p:xfrm>
          <a:off x="1038922" y="2008723"/>
          <a:ext cx="9432072" cy="448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024">
                  <a:extLst>
                    <a:ext uri="{9D8B030D-6E8A-4147-A177-3AD203B41FA5}">
                      <a16:colId xmlns:a16="http://schemas.microsoft.com/office/drawing/2014/main" val="3424340830"/>
                    </a:ext>
                  </a:extLst>
                </a:gridCol>
                <a:gridCol w="3144024">
                  <a:extLst>
                    <a:ext uri="{9D8B030D-6E8A-4147-A177-3AD203B41FA5}">
                      <a16:colId xmlns:a16="http://schemas.microsoft.com/office/drawing/2014/main" val="381086181"/>
                    </a:ext>
                  </a:extLst>
                </a:gridCol>
                <a:gridCol w="3144024">
                  <a:extLst>
                    <a:ext uri="{9D8B030D-6E8A-4147-A177-3AD203B41FA5}">
                      <a16:colId xmlns:a16="http://schemas.microsoft.com/office/drawing/2014/main" val="3109481481"/>
                    </a:ext>
                  </a:extLst>
                </a:gridCol>
              </a:tblGrid>
              <a:tr h="73631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564798"/>
                  </a:ext>
                </a:extLst>
              </a:tr>
              <a:tr h="7303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StarryOS/StarryOS </a:t>
                      </a:r>
                      <a:r>
                        <a:rPr lang="en-CN" dirty="0">
                          <a:latin typeface="Courier New" panose="02070309020205020404" pitchFamily="49" charset="0"/>
                        </a:rPr>
                        <a:t>ebpf-kmod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利用l</a:t>
                      </a:r>
                      <a:r>
                        <a:rPr lang="en-CN" dirty="0"/>
                        <a:t>km接入ebpf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通过lkm </a:t>
                      </a:r>
                      <a:r>
                        <a:rPr lang="en-CN" dirty="0">
                          <a:latin typeface="Courier New" panose="02070309020205020404" pitchFamily="49" charset="0"/>
                        </a:rPr>
                        <a:t>kebpf</a:t>
                      </a:r>
                      <a:r>
                        <a:rPr lang="en-CN" dirty="0"/>
                        <a:t> 模块注册 </a:t>
                      </a:r>
                      <a:r>
                        <a:rPr lang="en-CN" dirty="0">
                          <a:latin typeface="Courier New" panose="02070309020205020404" pitchFamily="49" charset="0"/>
                        </a:rPr>
                        <a:t>bpf()</a:t>
                      </a:r>
                      <a:r>
                        <a:rPr lang="en-CN" dirty="0"/>
                        <a:t> syscall，并接入 map、prog、perf、kprobe、tracepoint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554130"/>
                  </a:ext>
                </a:extLst>
              </a:tr>
              <a:tr h="7303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tgoskits PR #850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利用syscall</a:t>
                      </a:r>
                      <a:r>
                        <a:rPr lang="zh-CN" altLang="en-US" dirty="0"/>
                        <a:t> </a:t>
                      </a:r>
                      <a:r>
                        <a:rPr lang="en-CN" dirty="0"/>
                        <a:t>bpf支持eBPF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把 eBPF runtime 移入 </a:t>
                      </a:r>
                      <a:r>
                        <a:rPr lang="en-CN" dirty="0">
                          <a:latin typeface="Courier New" panose="02070309020205020404" pitchFamily="49" charset="0"/>
                        </a:rPr>
                        <a:t>starry-kernel</a:t>
                      </a:r>
                      <a:r>
                        <a:rPr lang="en-CN" dirty="0"/>
                        <a:t>，替换原来的 bpf/perf 空实现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779462"/>
                  </a:ext>
                </a:extLst>
              </a:tr>
              <a:tr h="7303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tgoskits PR #851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lkm机制支持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支持 </a:t>
                      </a:r>
                      <a:r>
                        <a:rPr lang="en-CN" dirty="0">
                          <a:latin typeface="Courier New" panose="02070309020205020404" pitchFamily="49" charset="0"/>
                        </a:rPr>
                        <a:t>.ko</a:t>
                      </a:r>
                      <a:r>
                        <a:rPr lang="en-CN" dirty="0"/>
                        <a:t> 模块加载、卸载、符号解析和构建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570982"/>
                  </a:ext>
                </a:extLst>
              </a:tr>
              <a:tr h="730322">
                <a:tc>
                  <a:txBody>
                    <a:bodyPr/>
                    <a:lstStyle/>
                    <a:p>
                      <a:r>
                        <a:rPr lang="en-CN" dirty="0"/>
                        <a:t>Linux eBPF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生产级内核拓展机制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verifier、JIT、BTF、CO-RE、bpf_link、多种 attach 类型</a:t>
                      </a:r>
                      <a:r>
                        <a:rPr lang="en-US" altLang="zh-CN" dirty="0"/>
                        <a:t>,</a:t>
                      </a:r>
                      <a:r>
                        <a:rPr lang="zh-CN" altLang="en-US" dirty="0"/>
                        <a:t> </a:t>
                      </a:r>
                      <a:r>
                        <a:rPr lang="zh-CN" altLang="en-CN" dirty="0"/>
                        <a:t>全方位</a:t>
                      </a:r>
                      <a:r>
                        <a:rPr lang="zh-CN" altLang="en-US" dirty="0"/>
                        <a:t>支持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985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888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7BFD-470D-D09B-16FD-F511EE76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634461E-DBA6-24A7-6165-A71B712FA3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30953"/>
              </p:ext>
            </p:extLst>
          </p:nvPr>
        </p:nvGraphicFramePr>
        <p:xfrm>
          <a:off x="613316" y="365125"/>
          <a:ext cx="10740484" cy="592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121">
                  <a:extLst>
                    <a:ext uri="{9D8B030D-6E8A-4147-A177-3AD203B41FA5}">
                      <a16:colId xmlns:a16="http://schemas.microsoft.com/office/drawing/2014/main" val="4013101930"/>
                    </a:ext>
                  </a:extLst>
                </a:gridCol>
                <a:gridCol w="2685121">
                  <a:extLst>
                    <a:ext uri="{9D8B030D-6E8A-4147-A177-3AD203B41FA5}">
                      <a16:colId xmlns:a16="http://schemas.microsoft.com/office/drawing/2014/main" val="3087746160"/>
                    </a:ext>
                  </a:extLst>
                </a:gridCol>
                <a:gridCol w="2685121">
                  <a:extLst>
                    <a:ext uri="{9D8B030D-6E8A-4147-A177-3AD203B41FA5}">
                      <a16:colId xmlns:a16="http://schemas.microsoft.com/office/drawing/2014/main" val="188134362"/>
                    </a:ext>
                  </a:extLst>
                </a:gridCol>
                <a:gridCol w="2685121">
                  <a:extLst>
                    <a:ext uri="{9D8B030D-6E8A-4147-A177-3AD203B41FA5}">
                      <a16:colId xmlns:a16="http://schemas.microsoft.com/office/drawing/2014/main" val="885721569"/>
                    </a:ext>
                  </a:extLst>
                </a:gridCol>
              </a:tblGrid>
              <a:tr h="8459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StarryOS/StarryOS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CN" dirty="0"/>
                        <a:t>goskits  PR #850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Linux eBPF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377289"/>
                  </a:ext>
                </a:extLst>
              </a:tr>
              <a:tr h="845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dirty="0"/>
                        <a:t>syscall 分发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  <a:r>
                        <a:rPr lang="en-CN" dirty="0"/>
                        <a:t>ebpf</a:t>
                      </a:r>
                      <a:r>
                        <a:rPr lang="en-US" dirty="0" err="1"/>
                        <a:t>模块注册handler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内核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内核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623388"/>
                  </a:ext>
                </a:extLst>
              </a:tr>
              <a:tr h="845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dirty="0"/>
                        <a:t>程序加载</a:t>
                      </a:r>
                    </a:p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直接读取创建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直接读取创建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CN" dirty="0"/>
                        <a:t>erifier校验后创建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674479"/>
                  </a:ext>
                </a:extLst>
              </a:tr>
              <a:tr h="845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dirty="0"/>
                        <a:t>map 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BpfMap + fd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BpfMap + fd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完整map fd的生命周期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054081"/>
                  </a:ext>
                </a:extLst>
              </a:tr>
              <a:tr h="845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dirty="0"/>
                        <a:t>attach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dirty="0"/>
                        <a:t>perf/kprobe/tracepoint/rawtp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dirty="0"/>
                        <a:t>perf/kprobe/tracepoint/rawtp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大量类型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063171"/>
                  </a:ext>
                </a:extLst>
              </a:tr>
              <a:tr h="845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dirty="0"/>
                        <a:t>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CN" dirty="0"/>
                        <a:t>bpf解释执行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CN" dirty="0"/>
                        <a:t>bpf解释执行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JIT或解释执行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061953"/>
                  </a:ext>
                </a:extLst>
              </a:tr>
              <a:tr h="845900">
                <a:tc>
                  <a:txBody>
                    <a:bodyPr/>
                    <a:lstStyle/>
                    <a:p>
                      <a:r>
                        <a:rPr lang="en-CN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dirty="0"/>
                        <a:t>perf event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perf event output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+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CN" sz="1800" dirty="0"/>
                        <a:t>ringbuf mmap 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1800" dirty="0"/>
                        <a:t>perf buffer / ringbuf / map 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791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70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3414-8581-80F3-4F5B-EDE530566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370"/>
            <a:ext cx="10515600" cy="1084532"/>
          </a:xfrm>
        </p:spPr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Question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:</a:t>
            </a:r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OS应该如何设计教学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实验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?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CA9FF-AB75-3730-37A6-4F3F758AC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901"/>
            <a:ext cx="10515600" cy="5464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感悟</a:t>
            </a:r>
            <a:endParaRPr lang="en-US" altLang="zh-CN" dirty="0"/>
          </a:p>
          <a:p>
            <a:r>
              <a:rPr lang="en-US" altLang="zh-CN" sz="2400" dirty="0"/>
              <a:t>1.</a:t>
            </a:r>
            <a:r>
              <a:rPr lang="zh-CN" altLang="en-US" sz="2400" dirty="0"/>
              <a:t> 在一个已经成熟的内核上工作</a:t>
            </a:r>
            <a:r>
              <a:rPr lang="en-US" altLang="zh-CN" sz="2400" dirty="0"/>
              <a:t>,</a:t>
            </a:r>
            <a:r>
              <a:rPr lang="zh-CN" altLang="en-US" sz="2400" dirty="0"/>
              <a:t> 与重新设计一个内核截然不同</a:t>
            </a:r>
            <a:r>
              <a:rPr lang="en-US" altLang="zh-CN" sz="2400" dirty="0"/>
              <a:t>,</a:t>
            </a:r>
            <a:r>
              <a:rPr lang="zh-CN" altLang="en-US" sz="2400" dirty="0"/>
              <a:t> 需要考虑到已有的架构、</a:t>
            </a:r>
            <a:r>
              <a:rPr lang="en-US" altLang="zh-CN" sz="2400" dirty="0"/>
              <a:t>API,</a:t>
            </a:r>
            <a:r>
              <a:rPr lang="zh-CN" altLang="en-US" sz="2400" dirty="0"/>
              <a:t> 还需要对齐标准预期、核对边界条件</a:t>
            </a:r>
            <a:r>
              <a:rPr lang="en-US" altLang="zh-CN" sz="2400" dirty="0"/>
              <a:t>,</a:t>
            </a:r>
            <a:r>
              <a:rPr lang="zh-CN" altLang="en-US" sz="2400" dirty="0"/>
              <a:t> 以及确保改动的</a:t>
            </a:r>
            <a:r>
              <a:rPr lang="en-US" altLang="zh-CN" sz="2400" dirty="0"/>
              <a:t>scope</a:t>
            </a:r>
            <a:r>
              <a:rPr lang="zh-CN" altLang="en-US" sz="2400" dirty="0"/>
              <a:t>不会太大、易于</a:t>
            </a:r>
            <a:r>
              <a:rPr lang="en-US" altLang="zh-CN" sz="2400" dirty="0"/>
              <a:t>review</a:t>
            </a:r>
            <a:r>
              <a:rPr lang="zh-CN" altLang="en-US" sz="2400" dirty="0"/>
              <a:t>和验证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 </a:t>
            </a:r>
            <a:r>
              <a:rPr lang="en-US" altLang="zh-CN" sz="2400" dirty="0"/>
              <a:t>AI</a:t>
            </a:r>
            <a:r>
              <a:rPr lang="zh-CN" altLang="en-US" sz="2400" dirty="0"/>
              <a:t>工程是一个复杂的问题</a:t>
            </a:r>
            <a:r>
              <a:rPr lang="en-US" altLang="zh-CN" sz="2400" dirty="0"/>
              <a:t>.</a:t>
            </a:r>
            <a:r>
              <a:rPr lang="zh-CN" altLang="en-US" sz="2400" dirty="0"/>
              <a:t> 同样的任务</a:t>
            </a:r>
            <a:r>
              <a:rPr lang="en-US" altLang="zh-CN" sz="2400" dirty="0"/>
              <a:t>,</a:t>
            </a:r>
            <a:r>
              <a:rPr lang="zh-CN" altLang="en-US" sz="2400" dirty="0"/>
              <a:t> 一个裸的</a:t>
            </a:r>
            <a:r>
              <a:rPr lang="en-US" altLang="zh-CN" sz="2400" dirty="0" err="1"/>
              <a:t>sota</a:t>
            </a:r>
            <a:r>
              <a:rPr lang="zh-CN" altLang="en-CN" sz="2400" dirty="0"/>
              <a:t>闭源</a:t>
            </a:r>
            <a:r>
              <a:rPr lang="zh-CN" altLang="en-US" sz="2400" dirty="0"/>
              <a:t>模型写出的代码全是</a:t>
            </a:r>
            <a:r>
              <a:rPr lang="en-US" altLang="zh-CN" sz="2400" dirty="0"/>
              <a:t>bug,</a:t>
            </a:r>
            <a:r>
              <a:rPr lang="zh-CN" altLang="en-US" sz="2400" dirty="0"/>
              <a:t> 需要返工十余次</a:t>
            </a:r>
            <a:r>
              <a:rPr lang="en-US" altLang="zh-CN" sz="2400" dirty="0"/>
              <a:t>,</a:t>
            </a:r>
            <a:r>
              <a:rPr lang="zh-CN" altLang="en-US" sz="2400" dirty="0"/>
              <a:t> 但引入总结经验、借鉴先进实践的</a:t>
            </a:r>
            <a:r>
              <a:rPr lang="en-US" altLang="zh-CN" sz="2400" dirty="0"/>
              <a:t>harness</a:t>
            </a:r>
            <a:r>
              <a:rPr lang="zh-CN" altLang="en-US" sz="2400" dirty="0"/>
              <a:t>后</a:t>
            </a:r>
            <a:r>
              <a:rPr lang="en-US" altLang="zh-CN" sz="2400" dirty="0"/>
              <a:t>,</a:t>
            </a:r>
            <a:r>
              <a:rPr lang="zh-CN" altLang="en-US" sz="2400" dirty="0"/>
              <a:t> 弱很多的开源模型就能做得很好</a:t>
            </a:r>
            <a:r>
              <a:rPr lang="en-US" altLang="zh-CN" sz="2400" dirty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小意见</a:t>
            </a:r>
            <a:endParaRPr lang="en-US" altLang="zh-CN" dirty="0"/>
          </a:p>
          <a:p>
            <a:r>
              <a:rPr lang="en-US" altLang="zh-CN" sz="2400" dirty="0"/>
              <a:t>1.</a:t>
            </a:r>
            <a:r>
              <a:rPr lang="zh-CN" altLang="en-US" sz="2400" dirty="0"/>
              <a:t> 考虑改为引入</a:t>
            </a:r>
            <a:r>
              <a:rPr lang="en-US" altLang="zh-CN" sz="2400" dirty="0"/>
              <a:t>Linux</a:t>
            </a:r>
            <a:r>
              <a:rPr lang="zh-CN" altLang="en-US" sz="2400" dirty="0"/>
              <a:t>近些年的新子系统</a:t>
            </a:r>
            <a:r>
              <a:rPr lang="en-US" altLang="zh-CN" sz="2400" dirty="0"/>
              <a:t>/</a:t>
            </a:r>
            <a:r>
              <a:rPr lang="zh-CN" altLang="en-US" sz="2400" dirty="0"/>
              <a:t>特性</a:t>
            </a:r>
            <a:r>
              <a:rPr lang="en-US" altLang="zh-CN" sz="2400" dirty="0"/>
              <a:t>/</a:t>
            </a:r>
            <a:r>
              <a:rPr lang="zh-CN" altLang="en-US" sz="2400" dirty="0"/>
              <a:t>组件或者复现论文</a:t>
            </a:r>
            <a:r>
              <a:rPr lang="en-US" altLang="zh-CN" sz="2400" dirty="0"/>
              <a:t>,</a:t>
            </a:r>
            <a:r>
              <a:rPr lang="zh-CN" altLang="en-US" sz="2400" dirty="0"/>
              <a:t> 从设计、权衡到开发、验证</a:t>
            </a:r>
            <a:r>
              <a:rPr lang="en-US" altLang="zh-CN" sz="2400" dirty="0"/>
              <a:t>,</a:t>
            </a:r>
            <a:r>
              <a:rPr lang="zh-CN" altLang="en-US" sz="2400" dirty="0"/>
              <a:t> 避免只是跑通应用、支持新硬件的纯工程实践</a:t>
            </a:r>
            <a:r>
              <a:rPr lang="en-US" altLang="zh-CN" sz="2400" dirty="0"/>
              <a:t>,</a:t>
            </a:r>
            <a:r>
              <a:rPr lang="zh-CN" altLang="en-US" sz="2400" dirty="0"/>
              <a:t> 这样可以让同学们有更多思考、学到更多东西</a:t>
            </a:r>
            <a:r>
              <a:rPr lang="en-US" altLang="zh-CN" sz="2400" dirty="0"/>
              <a:t>,</a:t>
            </a:r>
            <a:r>
              <a:rPr lang="zh-CN" altLang="en-US" sz="2400" dirty="0"/>
              <a:t> 而不是纯粹的指挥</a:t>
            </a:r>
            <a:r>
              <a:rPr lang="en-US" altLang="zh-CN" sz="2400" dirty="0"/>
              <a:t>AI;</a:t>
            </a:r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 学习软工课的模式</a:t>
            </a:r>
            <a:r>
              <a:rPr lang="en-US" altLang="zh-CN" sz="2400" dirty="0"/>
              <a:t>,</a:t>
            </a:r>
            <a:r>
              <a:rPr lang="zh-CN" altLang="en-US" sz="2400" dirty="0"/>
              <a:t> 每个助教带</a:t>
            </a:r>
            <a:r>
              <a:rPr lang="en-US" altLang="zh-CN" sz="2400" dirty="0"/>
              <a:t>1-3</a:t>
            </a:r>
            <a:r>
              <a:rPr lang="zh-CN" altLang="en-US" sz="2400" dirty="0"/>
              <a:t>个</a:t>
            </a:r>
            <a:r>
              <a:rPr lang="en-US" altLang="zh-CN" sz="2400" dirty="0"/>
              <a:t>3-5</a:t>
            </a:r>
            <a:r>
              <a:rPr lang="zh-CN" altLang="en-US" sz="2400" dirty="0"/>
              <a:t>人小组</a:t>
            </a:r>
            <a:r>
              <a:rPr lang="en-US" altLang="zh-CN" sz="2400" dirty="0"/>
              <a:t>,</a:t>
            </a:r>
            <a:r>
              <a:rPr lang="zh-CN" altLang="en-US" sz="2400" dirty="0"/>
              <a:t> 做</a:t>
            </a:r>
            <a:r>
              <a:rPr lang="en-US" altLang="zh-CN" sz="2400" dirty="0" err="1"/>
              <a:t>biglab</a:t>
            </a:r>
            <a:r>
              <a:rPr lang="en-US" altLang="zh-CN" sz="2400" dirty="0"/>
              <a:t>,</a:t>
            </a:r>
            <a:r>
              <a:rPr lang="zh-CN" altLang="en-US" sz="2400" dirty="0"/>
              <a:t> 更多的人可以做一个更大的项目</a:t>
            </a:r>
            <a:r>
              <a:rPr lang="en-US" altLang="zh-CN" sz="2400" dirty="0"/>
              <a:t>/</a:t>
            </a:r>
            <a:r>
              <a:rPr lang="zh-CN" altLang="en-US" sz="2400" dirty="0"/>
              <a:t>问题</a:t>
            </a:r>
            <a:r>
              <a:rPr lang="en-US" altLang="zh-CN" sz="2400" dirty="0"/>
              <a:t>.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3853254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3E70D0-EF5B-195F-2D50-5F099FB7FA2D}"/>
              </a:ext>
            </a:extLst>
          </p:cNvPr>
          <p:cNvSpPr txBox="1"/>
          <p:nvPr/>
        </p:nvSpPr>
        <p:spPr>
          <a:xfrm>
            <a:off x="3754244" y="2219092"/>
            <a:ext cx="4683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000" dirty="0">
                <a:latin typeface="STZhongsong" panose="02010600040101010101" pitchFamily="2" charset="-122"/>
                <a:ea typeface="STZhongsong" panose="02010600040101010101" pitchFamily="2" charset="-122"/>
              </a:rPr>
              <a:t>感谢聆听</a:t>
            </a:r>
            <a:r>
              <a:rPr lang="en-US" altLang="zh-CN" sz="4000" dirty="0">
                <a:latin typeface="STZhongsong" panose="02010600040101010101" pitchFamily="2" charset="-122"/>
                <a:ea typeface="STZhongsong" panose="02010600040101010101" pitchFamily="2" charset="-122"/>
              </a:rPr>
              <a:t>,</a:t>
            </a:r>
            <a:r>
              <a:rPr lang="zh-CN" altLang="en-US" sz="4000" dirty="0">
                <a:latin typeface="STZhongsong" panose="02010600040101010101" pitchFamily="2" charset="-122"/>
                <a:ea typeface="STZhongsong" panose="02010600040101010101" pitchFamily="2" charset="-122"/>
              </a:rPr>
              <a:t> 敬请指正</a:t>
            </a:r>
            <a:endParaRPr lang="en-CN" sz="40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7684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2198</TotalTime>
  <Words>2722</Words>
  <Application>Microsoft Macintosh PowerPoint</Application>
  <PresentationFormat>Widescreen</PresentationFormat>
  <Paragraphs>287</Paragraphs>
  <Slides>29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KaiTi</vt:lpstr>
      <vt:lpstr>SimHei</vt:lpstr>
      <vt:lpstr>STHeiti</vt:lpstr>
      <vt:lpstr>STZhongsong</vt:lpstr>
      <vt:lpstr>Aptos</vt:lpstr>
      <vt:lpstr>Aptos Display</vt:lpstr>
      <vt:lpstr>Arial</vt:lpstr>
      <vt:lpstr>Courier New</vt:lpstr>
      <vt:lpstr>Office Theme</vt:lpstr>
      <vt:lpstr>OS Biglab总结报告</vt:lpstr>
      <vt:lpstr>BiglabA总结</vt:lpstr>
      <vt:lpstr>BiglabB Task1-tg-arceos-tutorial</vt:lpstr>
      <vt:lpstr>EXP1 AI驱动的内核改进框架</vt:lpstr>
      <vt:lpstr>PowerPoint Presentation</vt:lpstr>
      <vt:lpstr>角色分工与协作</vt:lpstr>
      <vt:lpstr>技能分配</vt:lpstr>
      <vt:lpstr>工作流与系统全景</vt:lpstr>
      <vt:lpstr>Demo–用Harness重新解决EXP2.1</vt:lpstr>
      <vt:lpstr>EXP2 内核功能支持</vt:lpstr>
      <vt:lpstr>PowerPoint Presentation</vt:lpstr>
      <vt:lpstr>PowerPoint Presentation</vt:lpstr>
      <vt:lpstr>PowerPoint Presentation</vt:lpstr>
      <vt:lpstr>EXP3 StarryOS中的Linux应用功能支持</vt:lpstr>
      <vt:lpstr>PowerPoint Presentation</vt:lpstr>
      <vt:lpstr>EXP4 EBPF功能支持 - Stage1EBPF迁徙</vt:lpstr>
      <vt:lpstr>PowerPoint Presentation</vt:lpstr>
      <vt:lpstr>EXP4 EBPF功能支持 - Stage2 功能拓展</vt:lpstr>
      <vt:lpstr>PowerPoint Presentation</vt:lpstr>
      <vt:lpstr>PowerPoint Presentation</vt:lpstr>
      <vt:lpstr>PowerPoint Presentation</vt:lpstr>
      <vt:lpstr>PowerPoint Presentation</vt:lpstr>
      <vt:lpstr>Demo (1)syscall_count</vt:lpstr>
      <vt:lpstr>Demo (3)sched_trace</vt:lpstr>
      <vt:lpstr>Demo (3)profile_kprobe</vt:lpstr>
      <vt:lpstr>EXP4 EBPF比较</vt:lpstr>
      <vt:lpstr>PowerPoint Presentation</vt:lpstr>
      <vt:lpstr>Question:OS应该如何设计教学/实验?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1417</cp:revision>
  <dcterms:created xsi:type="dcterms:W3CDTF">2026-05-22T14:15:52Z</dcterms:created>
  <dcterms:modified xsi:type="dcterms:W3CDTF">2026-05-30T07:35:13Z</dcterms:modified>
</cp:coreProperties>
</file>